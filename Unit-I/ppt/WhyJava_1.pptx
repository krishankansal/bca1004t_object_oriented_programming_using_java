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70" r:id="rId3"/>
    <p:sldId id="271" r:id="rId4"/>
    <p:sldId id="272" r:id="rId5"/>
    <p:sldId id="273" r:id="rId6"/>
    <p:sldId id="274" r:id="rId7"/>
    <p:sldId id="275" r:id="rId8"/>
    <p:sldId id="267" r:id="rId9"/>
    <p:sldId id="268" r:id="rId10"/>
    <p:sldId id="257" r:id="rId11"/>
    <p:sldId id="258" r:id="rId12"/>
    <p:sldId id="259" r:id="rId13"/>
    <p:sldId id="260" r:id="rId14"/>
    <p:sldId id="261" r:id="rId15"/>
    <p:sldId id="262"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ashi kansal" initials="ak" lastIdx="1" clrIdx="0">
    <p:extLst>
      <p:ext uri="{19B8F6BF-5375-455C-9EA6-DF929625EA0E}">
        <p15:presenceInfo xmlns:p15="http://schemas.microsoft.com/office/powerpoint/2012/main" userId="b276625e964ca806"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8F649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89" autoAdjust="0"/>
    <p:restoredTop sz="94660"/>
  </p:normalViewPr>
  <p:slideViewPr>
    <p:cSldViewPr snapToGrid="0">
      <p:cViewPr varScale="1">
        <p:scale>
          <a:sx n="89" d="100"/>
          <a:sy n="89" d="100"/>
        </p:scale>
        <p:origin x="84" y="11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3-03-24T20:02:23.432" idx="1">
    <p:pos x="10" y="10"/>
    <p:text/>
    <p:extLst>
      <p:ext uri="{C676402C-5697-4E1C-873F-D02D1690AC5C}">
        <p15:threadingInfo xmlns:p15="http://schemas.microsoft.com/office/powerpoint/2012/main" timeZoneBias="-330"/>
      </p:ext>
    </p:extLst>
  </p:cm>
</p: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DE145A1-8EC9-42F6-9463-837C2067D09A}" type="datetimeFigureOut">
              <a:rPr lang="en-IN" smtClean="0"/>
              <a:t>02-02-2026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5775838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E145A1-8EC9-42F6-9463-837C2067D09A}" type="datetimeFigureOut">
              <a:rPr lang="en-IN" smtClean="0"/>
              <a:t>02-02-2026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4392626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DE145A1-8EC9-42F6-9463-837C2067D09A}" type="datetimeFigureOut">
              <a:rPr lang="en-IN" smtClean="0"/>
              <a:t>02-02-2026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9951272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DE145A1-8EC9-42F6-9463-837C2067D09A}" type="datetimeFigureOut">
              <a:rPr lang="en-IN" smtClean="0"/>
              <a:t>02-02-2026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8470394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DE145A1-8EC9-42F6-9463-837C2067D09A}" type="datetimeFigureOut">
              <a:rPr lang="en-IN" smtClean="0"/>
              <a:t>02-02-2026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2498677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DE145A1-8EC9-42F6-9463-837C2067D09A}" type="datetimeFigureOut">
              <a:rPr lang="en-IN" smtClean="0"/>
              <a:t>02-02-2026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25876113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DE145A1-8EC9-42F6-9463-837C2067D09A}" type="datetimeFigureOut">
              <a:rPr lang="en-IN" smtClean="0"/>
              <a:t>02-02-2026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31905277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DE145A1-8EC9-42F6-9463-837C2067D09A}" type="datetimeFigureOut">
              <a:rPr lang="en-IN" smtClean="0"/>
              <a:t>02-02-2026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6937706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DE145A1-8EC9-42F6-9463-837C2067D09A}" type="datetimeFigureOut">
              <a:rPr lang="en-IN" smtClean="0"/>
              <a:t>02-02-2026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3362374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E145A1-8EC9-42F6-9463-837C2067D09A}" type="datetimeFigureOut">
              <a:rPr lang="en-IN" smtClean="0"/>
              <a:t>02-02-2026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11254675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E145A1-8EC9-42F6-9463-837C2067D09A}" type="datetimeFigureOut">
              <a:rPr lang="en-IN" smtClean="0"/>
              <a:t>02-02-2026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4714676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DE145A1-8EC9-42F6-9463-837C2067D09A}" type="datetimeFigureOut">
              <a:rPr lang="en-IN" smtClean="0"/>
              <a:t>02-02-2026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EFCCAA-F3BC-4ECA-B613-94C1BD6FD11D}" type="slidenum">
              <a:rPr lang="en-IN" smtClean="0"/>
              <a:t>‹#›</a:t>
            </a:fld>
            <a:endParaRPr lang="en-IN"/>
          </a:p>
        </p:txBody>
      </p:sp>
    </p:spTree>
    <p:extLst>
      <p:ext uri="{BB962C8B-B14F-4D97-AF65-F5344CB8AC3E}">
        <p14:creationId xmlns:p14="http://schemas.microsoft.com/office/powerpoint/2010/main" val="1869822768"/>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1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1.jpe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Java Logo png download - 768*768 - Free Transparent Logo png Download. -  CleanPNG / KissPNG"/>
          <p:cNvSpPr>
            <a:spLocks noChangeAspect="1" noChangeArrowheads="1"/>
          </p:cNvSpPr>
          <p:nvPr/>
        </p:nvSpPr>
        <p:spPr bwMode="auto">
          <a:xfrm>
            <a:off x="155574" y="-144463"/>
            <a:ext cx="2801593" cy="2801602"/>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descr="HD wallpaper: Java, studio shot, no people, copy space, indoors, black background | Wallpaper Flare"/>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47555" y="398144"/>
            <a:ext cx="6263809" cy="3524103"/>
          </a:xfrm>
          <a:prstGeom prst="rect">
            <a:avLst/>
          </a:prstGeom>
          <a:effectLst>
            <a:reflection endPos="65000" dist="50800" dir="5400000" sy="-100000" algn="bl" rotWithShape="0"/>
          </a:effectLst>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1052659"/>
          </a:xfrm>
          <a:prstGeom prst="rect">
            <a:avLst/>
          </a:prstGeom>
        </p:spPr>
      </p:pic>
    </p:spTree>
    <p:extLst>
      <p:ext uri="{BB962C8B-B14F-4D97-AF65-F5344CB8AC3E}">
        <p14:creationId xmlns:p14="http://schemas.microsoft.com/office/powerpoint/2010/main" val="24447992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50706" y="226814"/>
            <a:ext cx="7273145"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The History and Evolution of Java</a:t>
            </a:r>
          </a:p>
        </p:txBody>
      </p:sp>
      <p:sp>
        <p:nvSpPr>
          <p:cNvPr id="3" name="Rectangle 2"/>
          <p:cNvSpPr/>
          <p:nvPr/>
        </p:nvSpPr>
        <p:spPr>
          <a:xfrm>
            <a:off x="396240" y="938189"/>
            <a:ext cx="11507096" cy="1754326"/>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Before C language</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Assembly language </a:t>
            </a:r>
            <a:r>
              <a:rPr lang="en-IN" dirty="0">
                <a:latin typeface="JetBrains Mono" panose="02000009000000000000" pitchFamily="49" charset="0"/>
                <a:ea typeface="JetBrains Mono" panose="02000009000000000000" pitchFamily="49" charset="0"/>
                <a:cs typeface="JetBrains Mono" panose="02000009000000000000" pitchFamily="49" charset="0"/>
              </a:rPr>
              <a:t>can be used to produce highly efficient programs, but it is not easy to learn or use effectively. </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latin typeface="JetBrains Mono" panose="02000009000000000000" pitchFamily="49" charset="0"/>
                <a:ea typeface="JetBrains Mono" panose="02000009000000000000" pitchFamily="49" charset="0"/>
                <a:cs typeface="JetBrains Mono" panose="02000009000000000000" pitchFamily="49" charset="0"/>
              </a:rPr>
              <a:t>Further, debugging assembly code can be quite difficult.</a:t>
            </a:r>
          </a:p>
        </p:txBody>
      </p:sp>
      <p:sp>
        <p:nvSpPr>
          <p:cNvPr id="6" name="Rectangle 5"/>
          <p:cNvSpPr/>
          <p:nvPr/>
        </p:nvSpPr>
        <p:spPr>
          <a:xfrm>
            <a:off x="1563445" y="3251124"/>
            <a:ext cx="3648636" cy="3108543"/>
          </a:xfrm>
          <a:prstGeom prst="rect">
            <a:avLst/>
          </a:prstGeom>
        </p:spPr>
        <p:txBody>
          <a:bodyPr wrap="square">
            <a:spAutoFit/>
          </a:bodyPr>
          <a:lstStyle/>
          <a:p>
            <a:r>
              <a:rPr lang="en-IN" sz="1400"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Assembly         Machine</a:t>
            </a:r>
          </a:p>
          <a:p>
            <a:r>
              <a:rPr lang="en-IN" sz="1400"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Language         Code</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start:</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MOV A,[0]        3e 00 00</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SUB A,#4         58 04</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JMP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NC,endloop</a:t>
            </a:r>
            <a:r>
              <a:rPr lang="en-IN" sz="1400" dirty="0">
                <a:latin typeface="JetBrains Mono" panose="02000009000000000000" pitchFamily="49" charset="0"/>
                <a:ea typeface="JetBrains Mono" panose="02000009000000000000" pitchFamily="49" charset="0"/>
                <a:cs typeface="JetBrains Mono" panose="02000009000000000000" pitchFamily="49" charset="0"/>
              </a:rPr>
              <a:t>   fb 0e</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MOV A,[0]        3e 00 00</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SUB A,#1         58 01</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MOV [0],A        4e 00 00</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ADD A,[1]        31 00 01</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MOV [1],A        4e 00 01</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JMP start        fc e9</a:t>
            </a:r>
          </a:p>
          <a:p>
            <a:r>
              <a:rPr lang="en-IN" sz="1400" dirty="0" err="1">
                <a:latin typeface="JetBrains Mono" panose="02000009000000000000" pitchFamily="49" charset="0"/>
                <a:ea typeface="JetBrains Mono" panose="02000009000000000000" pitchFamily="49" charset="0"/>
                <a:cs typeface="JetBrains Mono" panose="02000009000000000000" pitchFamily="49" charset="0"/>
              </a:rPr>
              <a:t>endloop</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p:txBody>
      </p:sp>
      <p:sp>
        <p:nvSpPr>
          <p:cNvPr id="7" name="Rectangle 6"/>
          <p:cNvSpPr/>
          <p:nvPr/>
        </p:nvSpPr>
        <p:spPr>
          <a:xfrm>
            <a:off x="7377953" y="3962417"/>
            <a:ext cx="1911275" cy="738664"/>
          </a:xfrm>
          <a:prstGeom prst="rect">
            <a:avLst/>
          </a:prstGeom>
        </p:spPr>
        <p:txBody>
          <a:bodyPr wrap="square">
            <a:spAutoFit/>
          </a:bodyPr>
          <a:lstStyle/>
          <a:p>
            <a:r>
              <a:rPr lang="en-IN" sz="1400" dirty="0">
                <a:latin typeface="JetBrains Mono" panose="02000009000000000000" pitchFamily="49" charset="0"/>
                <a:ea typeface="JetBrains Mono" panose="02000009000000000000" pitchFamily="49" charset="0"/>
                <a:cs typeface="JetBrains Mono" panose="02000009000000000000" pitchFamily="49" charset="0"/>
              </a:rPr>
              <a:t>while (x--&lt;4) {</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y+=x;</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p:txBody>
      </p:sp>
    </p:spTree>
    <p:extLst>
      <p:ext uri="{BB962C8B-B14F-4D97-AF65-F5344CB8AC3E}">
        <p14:creationId xmlns:p14="http://schemas.microsoft.com/office/powerpoint/2010/main" val="260621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6" grpId="0"/>
      <p:bldP spid="7"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74725" y="1723478"/>
            <a:ext cx="10732546" cy="646331"/>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FORTRAN</a:t>
            </a:r>
            <a:r>
              <a:rPr lang="en-IN" dirty="0">
                <a:latin typeface="JetBrains Mono" panose="02000009000000000000" pitchFamily="49" charset="0"/>
                <a:ea typeface="JetBrains Mono" panose="02000009000000000000" pitchFamily="49" charset="0"/>
                <a:cs typeface="JetBrains Mono" panose="02000009000000000000" pitchFamily="49" charset="0"/>
              </a:rPr>
              <a:t> : could be used to write fairly efficient programs for scientific applications, it was not very good for system code.</a:t>
            </a:r>
          </a:p>
        </p:txBody>
      </p:sp>
      <p:sp>
        <p:nvSpPr>
          <p:cNvPr id="3" name="Rectangle 2"/>
          <p:cNvSpPr/>
          <p:nvPr/>
        </p:nvSpPr>
        <p:spPr>
          <a:xfrm>
            <a:off x="270024" y="226814"/>
            <a:ext cx="7273145"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The History and Evolution of Java</a:t>
            </a:r>
          </a:p>
        </p:txBody>
      </p:sp>
      <p:sp>
        <p:nvSpPr>
          <p:cNvPr id="4" name="Rectangle 3"/>
          <p:cNvSpPr/>
          <p:nvPr/>
        </p:nvSpPr>
        <p:spPr>
          <a:xfrm>
            <a:off x="345934" y="1012122"/>
            <a:ext cx="2528256" cy="369332"/>
          </a:xfrm>
          <a:prstGeom prst="rect">
            <a:avLst/>
          </a:prstGeom>
        </p:spPr>
        <p:txBody>
          <a:bodyPr wrap="non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Before C language</a:t>
            </a:r>
          </a:p>
        </p:txBody>
      </p:sp>
      <p:sp>
        <p:nvSpPr>
          <p:cNvPr id="5" name="Rectangle 4"/>
          <p:cNvSpPr/>
          <p:nvPr/>
        </p:nvSpPr>
        <p:spPr>
          <a:xfrm>
            <a:off x="401617" y="4515087"/>
            <a:ext cx="10323755" cy="646331"/>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BASIC</a:t>
            </a:r>
            <a:r>
              <a:rPr lang="en-IN" dirty="0">
                <a:latin typeface="JetBrains Mono" panose="02000009000000000000" pitchFamily="49" charset="0"/>
                <a:ea typeface="JetBrains Mono" panose="02000009000000000000" pitchFamily="49" charset="0"/>
                <a:cs typeface="JetBrains Mono" panose="02000009000000000000" pitchFamily="49" charset="0"/>
              </a:rPr>
              <a:t> : was easy to learn, it wasn’t very powerful, and its lack of structure made its usefulness questionable for large programs.</a:t>
            </a:r>
          </a:p>
        </p:txBody>
      </p:sp>
      <p:sp>
        <p:nvSpPr>
          <p:cNvPr id="6" name="Rectangle 5"/>
          <p:cNvSpPr/>
          <p:nvPr/>
        </p:nvSpPr>
        <p:spPr>
          <a:xfrm>
            <a:off x="3758005" y="2461747"/>
            <a:ext cx="3336664" cy="2031325"/>
          </a:xfrm>
          <a:prstGeom prst="rect">
            <a:avLst/>
          </a:prstGeom>
        </p:spPr>
        <p:txBody>
          <a:bodyPr wrap="square">
            <a:spAutoFit/>
          </a:bodyPr>
          <a:lstStyle/>
          <a:p>
            <a:r>
              <a:rPr lang="en-GB" sz="1400"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Sample Fortran Program</a:t>
            </a:r>
          </a:p>
          <a:p>
            <a:r>
              <a:rPr lang="en-GB" sz="1400" dirty="0">
                <a:latin typeface="JetBrains Mono" panose="02000009000000000000" pitchFamily="49" charset="0"/>
                <a:ea typeface="JetBrains Mono" panose="02000009000000000000" pitchFamily="49" charset="0"/>
                <a:cs typeface="JetBrains Mono" panose="02000009000000000000" pitchFamily="49" charset="0"/>
              </a:rPr>
              <a:t>----------------------</a:t>
            </a:r>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program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testingInt</a:t>
            </a:r>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implicit none</a:t>
            </a:r>
          </a:p>
          <a:p>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integer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largeval</a:t>
            </a:r>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print *, huge(</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largeval</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end program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testingInt</a:t>
            </a:r>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7" name="Rectangle 6"/>
          <p:cNvSpPr/>
          <p:nvPr/>
        </p:nvSpPr>
        <p:spPr>
          <a:xfrm>
            <a:off x="2983454" y="5270822"/>
            <a:ext cx="6096000" cy="1384995"/>
          </a:xfrm>
          <a:prstGeom prst="rect">
            <a:avLst/>
          </a:prstGeom>
        </p:spPr>
        <p:txBody>
          <a:bodyPr>
            <a:spAutoFit/>
          </a:bodyPr>
          <a:lstStyle/>
          <a:p>
            <a:r>
              <a:rPr lang="en-GB" sz="1400"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Sample Basic Program</a:t>
            </a:r>
          </a:p>
          <a:p>
            <a:r>
              <a:rPr lang="en-GB" sz="1400" dirty="0">
                <a:latin typeface="JetBrains Mono" panose="02000009000000000000" pitchFamily="49" charset="0"/>
                <a:ea typeface="JetBrains Mono" panose="02000009000000000000" pitchFamily="49" charset="0"/>
                <a:cs typeface="JetBrains Mono" panose="02000009000000000000" pitchFamily="49" charset="0"/>
              </a:rPr>
              <a:t>------------------------------</a:t>
            </a:r>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INPUT "Please type your first name &gt;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firstname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INPUT "Please type your last name &gt;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lastname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a:p>
            <a:r>
              <a:rPr lang="en-IN" sz="1400" dirty="0" err="1">
                <a:latin typeface="JetBrains Mono" panose="02000009000000000000" pitchFamily="49" charset="0"/>
                <a:ea typeface="JetBrains Mono" panose="02000009000000000000" pitchFamily="49" charset="0"/>
                <a:cs typeface="JetBrains Mono" panose="02000009000000000000" pitchFamily="49" charset="0"/>
              </a:rPr>
              <a:t>fullname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firstname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 + " "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lastname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PRINT "Your full name is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fullname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p:txBody>
      </p:sp>
    </p:spTree>
    <p:extLst>
      <p:ext uri="{BB962C8B-B14F-4D97-AF65-F5344CB8AC3E}">
        <p14:creationId xmlns:p14="http://schemas.microsoft.com/office/powerpoint/2010/main" val="3049353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P spid="6" grpId="0"/>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9040" y="307496"/>
            <a:ext cx="3191899"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Now C language</a:t>
            </a:r>
          </a:p>
        </p:txBody>
      </p:sp>
      <p:sp>
        <p:nvSpPr>
          <p:cNvPr id="3" name="Rectangle 2"/>
          <p:cNvSpPr/>
          <p:nvPr/>
        </p:nvSpPr>
        <p:spPr>
          <a:xfrm>
            <a:off x="315556" y="990630"/>
            <a:ext cx="11351111" cy="1477328"/>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By the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early 1970s</a:t>
            </a:r>
            <a:r>
              <a:rPr lang="en-IN" dirty="0">
                <a:latin typeface="JetBrains Mono" panose="02000009000000000000" pitchFamily="49" charset="0"/>
                <a:ea typeface="JetBrains Mono" panose="02000009000000000000" pitchFamily="49" charset="0"/>
                <a:cs typeface="JetBrains Mono" panose="02000009000000000000" pitchFamily="49" charset="0"/>
              </a:rPr>
              <a:t>, the computer revolution was beginning , and the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demand for new software</a:t>
            </a:r>
            <a:r>
              <a:rPr lang="en-IN" dirty="0">
                <a:latin typeface="JetBrains Mono" panose="02000009000000000000" pitchFamily="49" charset="0"/>
                <a:ea typeface="JetBrains Mono" panose="02000009000000000000" pitchFamily="49" charset="0"/>
                <a:cs typeface="JetBrains Mono" panose="02000009000000000000" pitchFamily="49" charset="0"/>
              </a:rPr>
              <a:t> was, before programmers’ to produce it. </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latin typeface="JetBrains Mono" panose="02000009000000000000" pitchFamily="49" charset="0"/>
                <a:ea typeface="JetBrains Mono" panose="02000009000000000000" pitchFamily="49" charset="0"/>
                <a:cs typeface="JetBrains Mono" panose="02000009000000000000" pitchFamily="49" charset="0"/>
              </a:rPr>
              <a:t>A great deal of effort was being expended in academic circles in an attempt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to create a better computer language</a:t>
            </a:r>
            <a:r>
              <a:rPr lang="en-IN" dirty="0">
                <a:latin typeface="JetBrains Mono" panose="02000009000000000000" pitchFamily="49" charset="0"/>
                <a:ea typeface="JetBrains Mono" panose="02000009000000000000" pitchFamily="49" charset="0"/>
                <a:cs typeface="JetBrains Mono" panose="02000009000000000000" pitchFamily="49" charset="0"/>
              </a:rPr>
              <a:t>.</a:t>
            </a:r>
          </a:p>
        </p:txBody>
      </p:sp>
      <p:sp>
        <p:nvSpPr>
          <p:cNvPr id="4" name="Rectangle 3"/>
          <p:cNvSpPr/>
          <p:nvPr/>
        </p:nvSpPr>
        <p:spPr>
          <a:xfrm>
            <a:off x="294041" y="2640577"/>
            <a:ext cx="10856260"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Computer hardware was finally available for general masses. No longer were computers kept behind locked doors. </a:t>
            </a:r>
            <a:r>
              <a:rPr lang="en-GB" dirty="0">
                <a:latin typeface="JetBrains Mono" panose="02000009000000000000" pitchFamily="49" charset="0"/>
                <a:ea typeface="JetBrains Mono" panose="02000009000000000000" pitchFamily="49" charset="0"/>
                <a:cs typeface="JetBrains Mono" panose="02000009000000000000" pitchFamily="49" charset="0"/>
              </a:rPr>
              <a:t>This allowed the </a:t>
            </a:r>
            <a:r>
              <a:rPr lang="en-GB"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freedom to experiment</a:t>
            </a:r>
            <a:r>
              <a:rPr lang="en-GB" dirty="0">
                <a:latin typeface="JetBrains Mono" panose="02000009000000000000" pitchFamily="49" charset="0"/>
                <a:ea typeface="JetBrains Mono" panose="02000009000000000000" pitchFamily="49" charset="0"/>
                <a:cs typeface="JetBrains Mono" panose="02000009000000000000" pitchFamily="49" charset="0"/>
              </a:rPr>
              <a:t>.</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6" name="Rectangle 5"/>
          <p:cNvSpPr/>
          <p:nvPr/>
        </p:nvSpPr>
        <p:spPr>
          <a:xfrm>
            <a:off x="310178" y="3482352"/>
            <a:ext cx="9576100" cy="369332"/>
          </a:xfrm>
          <a:prstGeom prst="rect">
            <a:avLst/>
          </a:prstGeom>
        </p:spPr>
        <p:txBody>
          <a:bodyPr wrap="square">
            <a:spAutoFit/>
          </a:bodyPr>
          <a:lstStyle/>
          <a:p>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C programming language</a:t>
            </a:r>
            <a:r>
              <a:rPr lang="en-IN" dirty="0">
                <a:latin typeface="JetBrains Mono" panose="02000009000000000000" pitchFamily="49" charset="0"/>
                <a:ea typeface="JetBrains Mono" panose="02000009000000000000" pitchFamily="49" charset="0"/>
                <a:cs typeface="JetBrains Mono" panose="02000009000000000000" pitchFamily="49" charset="0"/>
              </a:rPr>
              <a:t> was developed in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1972</a:t>
            </a:r>
            <a:r>
              <a:rPr lang="en-IN" dirty="0">
                <a:latin typeface="JetBrains Mono" panose="02000009000000000000" pitchFamily="49" charset="0"/>
                <a:ea typeface="JetBrains Mono" panose="02000009000000000000" pitchFamily="49" charset="0"/>
                <a:cs typeface="JetBrains Mono" panose="02000009000000000000" pitchFamily="49" charset="0"/>
              </a:rPr>
              <a:t> by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Dennis Ritchie</a:t>
            </a:r>
            <a:r>
              <a:rPr lang="en-IN" dirty="0">
                <a:latin typeface="JetBrains Mono" panose="02000009000000000000" pitchFamily="49" charset="0"/>
                <a:ea typeface="JetBrains Mono" panose="02000009000000000000" pitchFamily="49" charset="0"/>
                <a:cs typeface="JetBrains Mono" panose="02000009000000000000" pitchFamily="49" charset="0"/>
              </a:rPr>
              <a:t>.</a:t>
            </a:r>
          </a:p>
        </p:txBody>
      </p:sp>
      <p:pic>
        <p:nvPicPr>
          <p:cNvPr id="2050" name="Picture 2" descr="Inductee Dennis Ritchie, Who Invented Unix, Transformed ..."/>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4012" y="3924487"/>
            <a:ext cx="1770044" cy="25933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6291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30710" y="1041738"/>
            <a:ext cx="11044518" cy="923330"/>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During the late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1972 and early 1980s</a:t>
            </a:r>
            <a:r>
              <a:rPr lang="en-IN" dirty="0">
                <a:latin typeface="JetBrains Mono" panose="02000009000000000000" pitchFamily="49" charset="0"/>
                <a:ea typeface="JetBrains Mono" panose="02000009000000000000" pitchFamily="49" charset="0"/>
                <a:cs typeface="JetBrains Mono" panose="02000009000000000000" pitchFamily="49" charset="0"/>
              </a:rPr>
              <a:t>, C became the dominant computer programming language, and it is still widely used today.  Since then - C is a successful and useful language, </a:t>
            </a:r>
          </a:p>
        </p:txBody>
      </p:sp>
      <p:sp>
        <p:nvSpPr>
          <p:cNvPr id="3" name="Rectangle 2"/>
          <p:cNvSpPr/>
          <p:nvPr/>
        </p:nvSpPr>
        <p:spPr>
          <a:xfrm>
            <a:off x="521845" y="312875"/>
            <a:ext cx="399468"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a:t>
            </a:r>
            <a:endParaRPr lang="en-IN" sz="2800" dirty="0"/>
          </a:p>
        </p:txBody>
      </p:sp>
      <p:sp>
        <p:nvSpPr>
          <p:cNvPr id="4" name="Rectangle 3"/>
          <p:cNvSpPr/>
          <p:nvPr/>
        </p:nvSpPr>
        <p:spPr>
          <a:xfrm>
            <a:off x="536089" y="2164541"/>
            <a:ext cx="10861638" cy="369332"/>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you might ask why a need for something else existed. The answer is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complexity</a:t>
            </a:r>
            <a:r>
              <a:rPr lang="en-IN" dirty="0">
                <a:latin typeface="JetBrains Mono" panose="02000009000000000000" pitchFamily="49" charset="0"/>
                <a:ea typeface="JetBrains Mono" panose="02000009000000000000" pitchFamily="49" charset="0"/>
                <a:cs typeface="JetBrains Mono" panose="02000009000000000000" pitchFamily="49" charset="0"/>
              </a:rPr>
              <a:t>.</a:t>
            </a:r>
          </a:p>
        </p:txBody>
      </p:sp>
      <p:sp>
        <p:nvSpPr>
          <p:cNvPr id="5" name="Rectangle 4"/>
          <p:cNvSpPr/>
          <p:nvPr/>
        </p:nvSpPr>
        <p:spPr>
          <a:xfrm>
            <a:off x="562983" y="2799242"/>
            <a:ext cx="10183905"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In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 if a program exceeds a certain point</a:t>
            </a:r>
            <a:r>
              <a:rPr lang="en-IN" dirty="0">
                <a:latin typeface="JetBrains Mono" panose="02000009000000000000" pitchFamily="49" charset="0"/>
                <a:ea typeface="JetBrains Mono" panose="02000009000000000000" pitchFamily="49" charset="0"/>
                <a:cs typeface="JetBrains Mono" panose="02000009000000000000" pitchFamily="49" charset="0"/>
              </a:rPr>
              <a:t>, it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becomes so complex </a:t>
            </a:r>
            <a:r>
              <a:rPr lang="en-IN" dirty="0">
                <a:latin typeface="JetBrains Mono" panose="02000009000000000000" pitchFamily="49" charset="0"/>
                <a:ea typeface="JetBrains Mono" panose="02000009000000000000" pitchFamily="49" charset="0"/>
                <a:cs typeface="JetBrains Mono" panose="02000009000000000000" pitchFamily="49" charset="0"/>
              </a:rPr>
              <a:t>that it is difficult to grasp as a totality.</a:t>
            </a:r>
          </a:p>
        </p:txBody>
      </p:sp>
      <p:sp>
        <p:nvSpPr>
          <p:cNvPr id="6" name="Rectangle 5"/>
          <p:cNvSpPr/>
          <p:nvPr/>
        </p:nvSpPr>
        <p:spPr>
          <a:xfrm>
            <a:off x="525332" y="3614144"/>
            <a:ext cx="11012244"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To solve this problem, a new way to program was invented, called </a:t>
            </a:r>
            <a:r>
              <a:rPr lang="en-IN" dirty="0">
                <a:solidFill>
                  <a:srgbClr val="00B050"/>
                </a:solidFill>
                <a:latin typeface="JetBrains Mono" panose="02000009000000000000" pitchFamily="49" charset="0"/>
                <a:ea typeface="JetBrains Mono" panose="02000009000000000000" pitchFamily="49" charset="0"/>
                <a:cs typeface="JetBrains Mono" panose="02000009000000000000" pitchFamily="49" charset="0"/>
              </a:rPr>
              <a:t>object-oriented programming (OOP).</a:t>
            </a:r>
          </a:p>
        </p:txBody>
      </p:sp>
    </p:spTree>
    <p:extLst>
      <p:ext uri="{BB962C8B-B14F-4D97-AF65-F5344CB8AC3E}">
        <p14:creationId xmlns:p14="http://schemas.microsoft.com/office/powerpoint/2010/main" val="218834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21845" y="312875"/>
            <a:ext cx="829073"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a:t>
            </a:r>
            <a:endParaRPr lang="en-IN" sz="2800" dirty="0"/>
          </a:p>
        </p:txBody>
      </p:sp>
      <p:sp>
        <p:nvSpPr>
          <p:cNvPr id="3" name="Rectangle 2"/>
          <p:cNvSpPr/>
          <p:nvPr/>
        </p:nvSpPr>
        <p:spPr>
          <a:xfrm>
            <a:off x="514574" y="924733"/>
            <a:ext cx="10840122"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C++ added features that enabled this threshold to be broken, allowing programmers to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comprehend and manage larger programs</a:t>
            </a:r>
            <a:r>
              <a:rPr lang="en-IN" dirty="0">
                <a:latin typeface="JetBrains Mono" panose="02000009000000000000" pitchFamily="49" charset="0"/>
                <a:ea typeface="JetBrains Mono" panose="02000009000000000000" pitchFamily="49" charset="0"/>
                <a:cs typeface="JetBrains Mono" panose="02000009000000000000" pitchFamily="49" charset="0"/>
              </a:rPr>
              <a:t>.</a:t>
            </a:r>
          </a:p>
        </p:txBody>
      </p:sp>
      <p:sp>
        <p:nvSpPr>
          <p:cNvPr id="4" name="Rectangle 3"/>
          <p:cNvSpPr/>
          <p:nvPr/>
        </p:nvSpPr>
        <p:spPr>
          <a:xfrm>
            <a:off x="560124" y="1818946"/>
            <a:ext cx="6445995" cy="369332"/>
          </a:xfrm>
          <a:prstGeom prst="rect">
            <a:avLst/>
          </a:prstGeom>
        </p:spPr>
        <p:txBody>
          <a:bodyPr wrap="non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C++ was invented by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Bjarne </a:t>
            </a:r>
            <a:r>
              <a:rPr lang="en-IN" dirty="0" err="1">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Stroustrup</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 in 1979</a:t>
            </a:r>
            <a:r>
              <a:rPr lang="en-IN" dirty="0"/>
              <a:t>.</a:t>
            </a:r>
          </a:p>
        </p:txBody>
      </p:sp>
      <p:pic>
        <p:nvPicPr>
          <p:cNvPr id="1026" name="Picture 2" descr="Bjarne Stroustrup | Columbia Engineeri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54242" y="2334409"/>
            <a:ext cx="1958302" cy="1958302"/>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627528" y="4702016"/>
            <a:ext cx="11103685" cy="1200329"/>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The invention of C++ was not an attempt to create a completely new programming language.</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latin typeface="JetBrains Mono" panose="02000009000000000000" pitchFamily="49" charset="0"/>
                <a:ea typeface="JetBrains Mono" panose="02000009000000000000" pitchFamily="49" charset="0"/>
                <a:cs typeface="JetBrains Mono" panose="02000009000000000000" pitchFamily="49" charset="0"/>
              </a:rPr>
              <a:t>Instead,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 was an enhancement to an already highly successful one</a:t>
            </a:r>
            <a:r>
              <a:rPr lang="en-IN" dirty="0">
                <a:latin typeface="JetBrains Mono" panose="02000009000000000000" pitchFamily="49" charset="0"/>
                <a:ea typeface="JetBrains Mono" panose="02000009000000000000" pitchFamily="49" charset="0"/>
                <a:cs typeface="JetBrains Mono" panose="02000009000000000000" pitchFamily="49" charset="0"/>
              </a:rPr>
              <a:t>.</a:t>
            </a:r>
          </a:p>
        </p:txBody>
      </p:sp>
    </p:spTree>
    <p:extLst>
      <p:ext uri="{BB962C8B-B14F-4D97-AF65-F5344CB8AC3E}">
        <p14:creationId xmlns:p14="http://schemas.microsoft.com/office/powerpoint/2010/main" val="1234586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2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06013" y="1248812"/>
            <a:ext cx="10103223" cy="923330"/>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From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1972 - 1980s</a:t>
            </a:r>
            <a:r>
              <a:rPr lang="en-IN" dirty="0">
                <a:latin typeface="JetBrains Mono" panose="02000009000000000000" pitchFamily="49" charset="0"/>
                <a:ea typeface="JetBrains Mono" panose="02000009000000000000" pitchFamily="49" charset="0"/>
                <a:cs typeface="JetBrains Mono" panose="02000009000000000000" pitchFamily="49" charset="0"/>
              </a:rPr>
              <a:t>,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a:t>
            </a:r>
            <a:r>
              <a:rPr lang="en-IN" dirty="0">
                <a:latin typeface="JetBrains Mono" panose="02000009000000000000" pitchFamily="49" charset="0"/>
                <a:ea typeface="JetBrains Mono" panose="02000009000000000000" pitchFamily="49" charset="0"/>
                <a:cs typeface="JetBrains Mono" panose="02000009000000000000" pitchFamily="49" charset="0"/>
              </a:rPr>
              <a:t> was used as primary programming language.</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latin typeface="JetBrains Mono" panose="02000009000000000000" pitchFamily="49" charset="0"/>
                <a:ea typeface="JetBrains Mono" panose="02000009000000000000" pitchFamily="49" charset="0"/>
                <a:cs typeface="JetBrains Mono" panose="02000009000000000000" pitchFamily="49" charset="0"/>
              </a:rPr>
              <a:t>From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1980 - 1990s</a:t>
            </a:r>
            <a:r>
              <a:rPr lang="en-IN" dirty="0">
                <a:latin typeface="JetBrains Mono" panose="02000009000000000000" pitchFamily="49" charset="0"/>
                <a:ea typeface="JetBrains Mono" panose="02000009000000000000" pitchFamily="49" charset="0"/>
                <a:cs typeface="JetBrains Mono" panose="02000009000000000000" pitchFamily="49" charset="0"/>
              </a:rPr>
              <a:t>, object-oriented programming using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 </a:t>
            </a:r>
            <a:r>
              <a:rPr lang="en-IN" dirty="0">
                <a:latin typeface="JetBrains Mono" panose="02000009000000000000" pitchFamily="49" charset="0"/>
                <a:ea typeface="JetBrains Mono" panose="02000009000000000000" pitchFamily="49" charset="0"/>
                <a:cs typeface="JetBrains Mono" panose="02000009000000000000" pitchFamily="49" charset="0"/>
              </a:rPr>
              <a:t>took hold.</a:t>
            </a:r>
          </a:p>
        </p:txBody>
      </p:sp>
      <p:sp>
        <p:nvSpPr>
          <p:cNvPr id="3" name="Rectangle 2"/>
          <p:cNvSpPr/>
          <p:nvPr/>
        </p:nvSpPr>
        <p:spPr>
          <a:xfrm>
            <a:off x="595634" y="334390"/>
            <a:ext cx="4051109"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Why and When Java?</a:t>
            </a:r>
          </a:p>
        </p:txBody>
      </p:sp>
      <p:sp>
        <p:nvSpPr>
          <p:cNvPr id="4" name="Rectangle 3"/>
          <p:cNvSpPr/>
          <p:nvPr/>
        </p:nvSpPr>
        <p:spPr>
          <a:xfrm>
            <a:off x="637079" y="2571981"/>
            <a:ext cx="2941831" cy="369332"/>
          </a:xfrm>
          <a:prstGeom prst="rect">
            <a:avLst/>
          </a:prstGeom>
        </p:spPr>
        <p:txBody>
          <a:bodyPr wrap="non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The Creation of Java</a:t>
            </a:r>
          </a:p>
        </p:txBody>
      </p:sp>
      <p:sp>
        <p:nvSpPr>
          <p:cNvPr id="5" name="Rectangle 4"/>
          <p:cNvSpPr/>
          <p:nvPr/>
        </p:nvSpPr>
        <p:spPr>
          <a:xfrm>
            <a:off x="670559" y="3126021"/>
            <a:ext cx="10829365" cy="1200329"/>
          </a:xfrm>
          <a:prstGeom prst="rect">
            <a:avLst/>
          </a:prstGeom>
        </p:spPr>
        <p:txBody>
          <a:bodyPr wrap="square">
            <a:spAutoFit/>
          </a:bodyPr>
          <a:lstStyle/>
          <a:p>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Java was designed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for small, embedded systems in electronic appliances </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like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set-top boxes, microwave ovens, remote controls</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and many other </a:t>
            </a:r>
            <a:r>
              <a:rPr lang="en-IN" dirty="0" err="1">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elecronic</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appliances. It was known as </a:t>
            </a:r>
            <a:r>
              <a:rPr lang="en-IN" dirty="0" err="1">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Greentalk</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at that time </a:t>
            </a:r>
            <a:r>
              <a:rPr lang="en-IN" dirty="0" err="1">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i.e</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in early '90s. After that, it was called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Oak</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Lastly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it was named Java in 1995</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a:t>
            </a:r>
          </a:p>
        </p:txBody>
      </p:sp>
      <p:sp>
        <p:nvSpPr>
          <p:cNvPr id="6" name="Rectangle 5"/>
          <p:cNvSpPr/>
          <p:nvPr/>
        </p:nvSpPr>
        <p:spPr>
          <a:xfrm>
            <a:off x="632908" y="4450541"/>
            <a:ext cx="10576560" cy="369332"/>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Java was developed by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James Gosling</a:t>
            </a:r>
            <a:r>
              <a:rPr lang="en-IN" dirty="0">
                <a:latin typeface="JetBrains Mono" panose="02000009000000000000" pitchFamily="49" charset="0"/>
                <a:ea typeface="JetBrains Mono" panose="02000009000000000000" pitchFamily="49" charset="0"/>
                <a:cs typeface="JetBrains Mono" panose="02000009000000000000" pitchFamily="49" charset="0"/>
              </a:rPr>
              <a:t>, who is known as the father of Java. </a:t>
            </a:r>
          </a:p>
        </p:txBody>
      </p:sp>
      <p:pic>
        <p:nvPicPr>
          <p:cNvPr id="2050" name="Picture 2" descr="James Gosling | Dries Buytaer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56437" y="4836199"/>
            <a:ext cx="2461063" cy="16399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0735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5107" y="280602"/>
            <a:ext cx="4480714"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The Creation of Java</a:t>
            </a:r>
          </a:p>
        </p:txBody>
      </p:sp>
      <p:sp>
        <p:nvSpPr>
          <p:cNvPr id="3" name="Rectangle 2"/>
          <p:cNvSpPr/>
          <p:nvPr/>
        </p:nvSpPr>
        <p:spPr>
          <a:xfrm>
            <a:off x="331693" y="1122424"/>
            <a:ext cx="11533991" cy="1477328"/>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Java</a:t>
            </a:r>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was created at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Sun Microsystems</a:t>
            </a:r>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Inc., where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James Gosling</a:t>
            </a:r>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led a team of researchers in an effort to create a new language that would allow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consumer electronic devices to communicate with each other</a:t>
            </a:r>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Inc. in 1991. It took 18 months</a:t>
            </a: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to develop the first working version. This language was initially called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Oak</a:t>
            </a:r>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a:t>
            </a: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but was renamed “Java” in 1995.</a:t>
            </a:r>
          </a:p>
        </p:txBody>
      </p:sp>
      <p:sp>
        <p:nvSpPr>
          <p:cNvPr id="5" name="Rectangle 4"/>
          <p:cNvSpPr/>
          <p:nvPr/>
        </p:nvSpPr>
        <p:spPr>
          <a:xfrm>
            <a:off x="326315" y="3425908"/>
            <a:ext cx="11152094" cy="1754326"/>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Original goal for Java was not the Internet!</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latin typeface="JetBrains Mono" panose="02000009000000000000" pitchFamily="49" charset="0"/>
                <a:ea typeface="JetBrains Mono" panose="02000009000000000000" pitchFamily="49" charset="0"/>
                <a:cs typeface="JetBrains Mono" panose="02000009000000000000" pitchFamily="49" charset="0"/>
              </a:rPr>
              <a:t>Instead, the primary motivation was the need for a platform-independent (that is, architecture-neutral) language that could be used to create software to be embedded in various consumer electronic devices, such as microwave ovens</a:t>
            </a:r>
          </a:p>
          <a:p>
            <a:r>
              <a:rPr lang="en-IN" dirty="0">
                <a:latin typeface="JetBrains Mono" panose="02000009000000000000" pitchFamily="49" charset="0"/>
                <a:ea typeface="JetBrains Mono" panose="02000009000000000000" pitchFamily="49" charset="0"/>
                <a:cs typeface="JetBrains Mono" panose="02000009000000000000" pitchFamily="49" charset="0"/>
              </a:rPr>
              <a:t>and remote controls.</a:t>
            </a:r>
          </a:p>
        </p:txBody>
      </p:sp>
    </p:spTree>
    <p:extLst>
      <p:ext uri="{BB962C8B-B14F-4D97-AF65-F5344CB8AC3E}">
        <p14:creationId xmlns:p14="http://schemas.microsoft.com/office/powerpoint/2010/main" val="3855783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198191" y="97722"/>
            <a:ext cx="3191899"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Microwave oven</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0072" y="732865"/>
            <a:ext cx="5286935" cy="5286935"/>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3054" y="721825"/>
            <a:ext cx="5004511" cy="1714781"/>
          </a:xfrm>
          <a:prstGeom prst="rect">
            <a:avLst/>
          </a:prstGeom>
        </p:spPr>
      </p:pic>
      <p:sp>
        <p:nvSpPr>
          <p:cNvPr id="6" name="Rectangle 5"/>
          <p:cNvSpPr/>
          <p:nvPr/>
        </p:nvSpPr>
        <p:spPr>
          <a:xfrm>
            <a:off x="7280025" y="146132"/>
            <a:ext cx="3244799"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Remote control</a:t>
            </a:r>
            <a:r>
              <a:rPr lang="en-IN" dirty="0"/>
              <a:t> </a:t>
            </a:r>
          </a:p>
        </p:txBody>
      </p:sp>
      <p:pic>
        <p:nvPicPr>
          <p:cNvPr id="7" name="Picture 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525453" y="3182341"/>
            <a:ext cx="2628310" cy="3503538"/>
          </a:xfrm>
          <a:prstGeom prst="rect">
            <a:avLst/>
          </a:prstGeom>
        </p:spPr>
      </p:pic>
      <p:sp>
        <p:nvSpPr>
          <p:cNvPr id="8" name="Rectangle 7"/>
          <p:cNvSpPr/>
          <p:nvPr/>
        </p:nvSpPr>
        <p:spPr>
          <a:xfrm>
            <a:off x="7191546" y="2615011"/>
            <a:ext cx="3406702"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Washing machine</a:t>
            </a:r>
          </a:p>
        </p:txBody>
      </p:sp>
    </p:spTree>
    <p:extLst>
      <p:ext uri="{BB962C8B-B14F-4D97-AF65-F5344CB8AC3E}">
        <p14:creationId xmlns:p14="http://schemas.microsoft.com/office/powerpoint/2010/main" val="1872185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51077" y="306152"/>
            <a:ext cx="4382288" cy="523220"/>
          </a:xfrm>
          <a:prstGeom prst="rect">
            <a:avLst/>
          </a:prstGeom>
        </p:spPr>
        <p:txBody>
          <a:bodyPr wrap="squar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What is Java?</a:t>
            </a:r>
          </a:p>
        </p:txBody>
      </p:sp>
      <p:sp>
        <p:nvSpPr>
          <p:cNvPr id="6" name="Rectangle 5"/>
          <p:cNvSpPr/>
          <p:nvPr/>
        </p:nvSpPr>
        <p:spPr>
          <a:xfrm>
            <a:off x="384057" y="2577367"/>
            <a:ext cx="4910319"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Stage is set for Java?</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6987" y="3391242"/>
            <a:ext cx="4664448" cy="2804867"/>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92688" y="3347869"/>
            <a:ext cx="5643027" cy="2761129"/>
          </a:xfrm>
          <a:prstGeom prst="rect">
            <a:avLst/>
          </a:prstGeom>
        </p:spPr>
      </p:pic>
      <p:pic>
        <p:nvPicPr>
          <p:cNvPr id="10" name="Picture 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53000" y="3896116"/>
            <a:ext cx="1467971" cy="1506911"/>
          </a:xfrm>
          <a:prstGeom prst="rect">
            <a:avLst/>
          </a:prstGeom>
        </p:spPr>
      </p:pic>
      <p:sp>
        <p:nvSpPr>
          <p:cNvPr id="11" name="TextBox 10"/>
          <p:cNvSpPr txBox="1"/>
          <p:nvPr/>
        </p:nvSpPr>
        <p:spPr>
          <a:xfrm>
            <a:off x="1869143" y="6278438"/>
            <a:ext cx="1309742" cy="369332"/>
          </a:xfrm>
          <a:prstGeom prst="rect">
            <a:avLst/>
          </a:prstGeom>
          <a:noFill/>
        </p:spPr>
        <p:txBody>
          <a:bodyPr wrap="square" rtlCol="0">
            <a:spAutoFit/>
          </a:bodyPr>
          <a:lstStyle/>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Before</a:t>
            </a:r>
          </a:p>
        </p:txBody>
      </p:sp>
      <p:sp>
        <p:nvSpPr>
          <p:cNvPr id="12" name="TextBox 11"/>
          <p:cNvSpPr txBox="1"/>
          <p:nvPr/>
        </p:nvSpPr>
        <p:spPr>
          <a:xfrm>
            <a:off x="8673353" y="6243470"/>
            <a:ext cx="968188" cy="369332"/>
          </a:xfrm>
          <a:prstGeom prst="rect">
            <a:avLst/>
          </a:prstGeom>
          <a:noFill/>
        </p:spPr>
        <p:txBody>
          <a:bodyPr wrap="square" rtlCol="0">
            <a:spAutoFit/>
          </a:bodyPr>
          <a:lstStyle/>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Now</a:t>
            </a:r>
          </a:p>
        </p:txBody>
      </p:sp>
      <p:sp>
        <p:nvSpPr>
          <p:cNvPr id="13" name="TextBox 12"/>
          <p:cNvSpPr txBox="1"/>
          <p:nvPr/>
        </p:nvSpPr>
        <p:spPr>
          <a:xfrm>
            <a:off x="4925650" y="5440679"/>
            <a:ext cx="1613647" cy="646331"/>
          </a:xfrm>
          <a:prstGeom prst="rect">
            <a:avLst/>
          </a:prstGeom>
          <a:noFill/>
        </p:spPr>
        <p:txBody>
          <a:bodyPr wrap="square" rtlCol="0">
            <a:spAutoFit/>
          </a:bodyPr>
          <a:lstStyle/>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New Tech. Required..</a:t>
            </a:r>
          </a:p>
        </p:txBody>
      </p:sp>
      <p:sp>
        <p:nvSpPr>
          <p:cNvPr id="14" name="Rectangle 13"/>
          <p:cNvSpPr/>
          <p:nvPr/>
        </p:nvSpPr>
        <p:spPr>
          <a:xfrm>
            <a:off x="363966" y="774126"/>
            <a:ext cx="10990729"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Within a few years, the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World Wide Web and the Internet </a:t>
            </a:r>
            <a:r>
              <a:rPr lang="en-IN" dirty="0">
                <a:latin typeface="JetBrains Mono" panose="02000009000000000000" pitchFamily="49" charset="0"/>
                <a:ea typeface="JetBrains Mono" panose="02000009000000000000" pitchFamily="49" charset="0"/>
                <a:cs typeface="JetBrains Mono" panose="02000009000000000000" pitchFamily="49" charset="0"/>
              </a:rPr>
              <a:t>would reach critical mass. This event would push another revolution in programming.</a:t>
            </a:r>
          </a:p>
        </p:txBody>
      </p:sp>
      <p:sp>
        <p:nvSpPr>
          <p:cNvPr id="15" name="Rectangle 14"/>
          <p:cNvSpPr/>
          <p:nvPr/>
        </p:nvSpPr>
        <p:spPr>
          <a:xfrm>
            <a:off x="380101" y="1457238"/>
            <a:ext cx="10581940" cy="923330"/>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with the emergence of the World Wide Web</a:t>
            </a:r>
            <a:r>
              <a:rPr lang="en-IN" dirty="0">
                <a:latin typeface="JetBrains Mono" panose="02000009000000000000" pitchFamily="49" charset="0"/>
                <a:ea typeface="JetBrains Mono" panose="02000009000000000000" pitchFamily="49" charset="0"/>
                <a:cs typeface="JetBrains Mono" panose="02000009000000000000" pitchFamily="49" charset="0"/>
              </a:rPr>
              <a:t>, Java was propelled to the forefront of computer language design, because the Web, too, demanded portable programs.</a:t>
            </a:r>
          </a:p>
        </p:txBody>
      </p:sp>
      <p:sp>
        <p:nvSpPr>
          <p:cNvPr id="16" name="TextBox 15"/>
          <p:cNvSpPr txBox="1"/>
          <p:nvPr/>
        </p:nvSpPr>
        <p:spPr>
          <a:xfrm>
            <a:off x="9337639" y="6368527"/>
            <a:ext cx="2694969" cy="276999"/>
          </a:xfrm>
          <a:prstGeom prst="rect">
            <a:avLst/>
          </a:prstGeom>
          <a:noFill/>
        </p:spPr>
        <p:txBody>
          <a:bodyPr wrap="none" rtlCol="0">
            <a:spAutoFit/>
          </a:bodyPr>
          <a:lstStyle/>
          <a:p>
            <a:r>
              <a:rPr lang="en-GB" sz="1200" dirty="0" err="1">
                <a:solidFill>
                  <a:srgbClr val="FF0000"/>
                </a:solidFill>
                <a:latin typeface="JetBrains Mono" panose="02000009000000000000" pitchFamily="49" charset="0"/>
                <a:ea typeface="JetBrains Mono" panose="02000009000000000000" pitchFamily="49" charset="0"/>
                <a:cs typeface="JetBrains Mono" panose="02000009000000000000" pitchFamily="49" charset="0"/>
              </a:rPr>
              <a:t>programming_heist_professor</a:t>
            </a:r>
            <a:endParaRPr lang="en-IN" sz="1200" dirty="0">
              <a:solidFill>
                <a:srgbClr val="FF0000"/>
              </a:solidFill>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437140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12" grpId="0"/>
      <p:bldP spid="13" grpId="0"/>
      <p:bldP spid="1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09818" y="209353"/>
            <a:ext cx="11811000" cy="1200329"/>
          </a:xfrm>
          <a:prstGeom prst="rect">
            <a:avLst/>
          </a:prstGeom>
        </p:spPr>
        <p:txBody>
          <a:bodyPr wrap="square">
            <a:spAutoFit/>
          </a:bodyPr>
          <a:lstStyle/>
          <a:p>
            <a:pPr algn="just"/>
            <a:r>
              <a:rPr lang="en-GB"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Java</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 is a </a:t>
            </a:r>
            <a:r>
              <a:rPr lang="en-GB"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platform-independent</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 language, meaning we run the same code on multiple platforms. Java achieves this using </a:t>
            </a:r>
            <a:r>
              <a:rPr lang="en-GB"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JVM</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 and </a:t>
            </a:r>
            <a:r>
              <a:rPr lang="en-GB"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Byte Code</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 Java compiler converts the programming code into byte code. </a:t>
            </a:r>
            <a:r>
              <a:rPr lang="en-GB"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Byte code is platform-independent </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and can be run on any </a:t>
            </a:r>
            <a:r>
              <a:rPr lang="en-GB" u="sng" dirty="0">
                <a:solidFill>
                  <a:srgbClr val="FFC000"/>
                </a:solidFill>
                <a:effectLst>
                  <a:outerShdw blurRad="38100" dist="38100" dir="2700000" algn="tl">
                    <a:srgbClr val="000000">
                      <a:alpha val="43137"/>
                    </a:srgbClr>
                  </a:outerShdw>
                </a:effectLst>
                <a:latin typeface="JetBrains Mono" panose="02000009000000000000" pitchFamily="49" charset="0"/>
                <a:ea typeface="JetBrains Mono" panose="02000009000000000000" pitchFamily="49" charset="0"/>
                <a:cs typeface="JetBrains Mono" panose="02000009000000000000" pitchFamily="49" charset="0"/>
              </a:rPr>
              <a:t>processor or system</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a:t>
            </a:r>
            <a:endParaRPr lang="en-IN"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3" name="TextBox 2"/>
          <p:cNvSpPr txBox="1"/>
          <p:nvPr/>
        </p:nvSpPr>
        <p:spPr>
          <a:xfrm>
            <a:off x="228602" y="1976719"/>
            <a:ext cx="2581156" cy="461665"/>
          </a:xfrm>
          <a:prstGeom prst="rect">
            <a:avLst/>
          </a:prstGeom>
          <a:noFill/>
        </p:spPr>
        <p:txBody>
          <a:bodyPr wrap="none" rtlCol="0">
            <a:spAutoFit/>
          </a:bodyPr>
          <a:lstStyle/>
          <a:p>
            <a:r>
              <a:rPr lang="en-GB"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Any Processor</a:t>
            </a:r>
            <a:endParaRPr lang="en-IN"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4" name="Rectangle 3"/>
          <p:cNvSpPr/>
          <p:nvPr/>
        </p:nvSpPr>
        <p:spPr>
          <a:xfrm>
            <a:off x="203950" y="2414672"/>
            <a:ext cx="8724897" cy="2031325"/>
          </a:xfrm>
          <a:prstGeom prst="rect">
            <a:avLst/>
          </a:prstGeom>
        </p:spPr>
        <p:txBody>
          <a:bodyPr wrap="square">
            <a:spAutoFit/>
          </a:bodyPr>
          <a:lstStyle/>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The different types of processors are </a:t>
            </a: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microprocessor (</a:t>
            </a:r>
            <a:r>
              <a:rPr lang="en-IN" dirty="0">
                <a:latin typeface="JetBrains Mono" panose="02000009000000000000" pitchFamily="49" charset="0"/>
                <a:ea typeface="JetBrains Mono" panose="02000009000000000000" pitchFamily="49" charset="0"/>
                <a:cs typeface="JetBrains Mono" panose="02000009000000000000" pitchFamily="49" charset="0"/>
              </a:rPr>
              <a:t>CISC , RISC, EPIC)</a:t>
            </a:r>
          </a:p>
          <a:p>
            <a:r>
              <a:rPr lang="en-GB"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(RISC)-based computers use the big-endian approach</a:t>
            </a:r>
          </a:p>
          <a:p>
            <a:r>
              <a:rPr lang="en-GB"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(CISC)-based computers use the little-endian approach</a:t>
            </a:r>
            <a:endPar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endParaRP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microcontroller</a:t>
            </a: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embedded processor</a:t>
            </a: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digital signal processor</a:t>
            </a:r>
          </a:p>
        </p:txBody>
      </p:sp>
      <p:pic>
        <p:nvPicPr>
          <p:cNvPr id="9" name="Picture 8"/>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2303" y="4534903"/>
            <a:ext cx="5994025" cy="2225008"/>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47647" y="4522133"/>
            <a:ext cx="4811806" cy="2187949"/>
          </a:xfrm>
          <a:prstGeom prst="rect">
            <a:avLst/>
          </a:prstGeom>
        </p:spPr>
      </p:pic>
    </p:spTree>
    <p:extLst>
      <p:ext uri="{BB962C8B-B14F-4D97-AF65-F5344CB8AC3E}">
        <p14:creationId xmlns:p14="http://schemas.microsoft.com/office/powerpoint/2010/main" val="15625400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48773" y="221884"/>
            <a:ext cx="4713192" cy="523220"/>
          </a:xfrm>
          <a:prstGeom prst="rect">
            <a:avLst/>
          </a:prstGeom>
          <a:noFill/>
        </p:spPr>
        <p:txBody>
          <a:bodyPr wrap="square" rtlCol="0">
            <a:spAutoFit/>
          </a:bodyPr>
          <a:lstStyle/>
          <a:p>
            <a:r>
              <a:rPr lang="en-GB"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Any </a:t>
            </a:r>
            <a:r>
              <a:rPr lang="en-GB"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Operating</a:t>
            </a:r>
            <a:r>
              <a:rPr lang="en-GB"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 System</a:t>
            </a:r>
            <a:endParaRPr lang="en-IN"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4" name="Rectangle 3"/>
          <p:cNvSpPr/>
          <p:nvPr/>
        </p:nvSpPr>
        <p:spPr>
          <a:xfrm>
            <a:off x="688043" y="787595"/>
            <a:ext cx="9619127" cy="1754326"/>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 Apple macOS</a:t>
            </a:r>
          </a:p>
          <a:p>
            <a:r>
              <a:rPr lang="en-IN" dirty="0">
                <a:latin typeface="JetBrains Mono" panose="02000009000000000000" pitchFamily="49" charset="0"/>
                <a:ea typeface="JetBrains Mono" panose="02000009000000000000" pitchFamily="49" charset="0"/>
                <a:cs typeface="JetBrains Mono" panose="02000009000000000000" pitchFamily="49" charset="0"/>
              </a:rPr>
              <a:t>- Microsoft Windows</a:t>
            </a:r>
          </a:p>
          <a:p>
            <a:r>
              <a:rPr lang="en-IN" dirty="0">
                <a:latin typeface="JetBrains Mono" panose="02000009000000000000" pitchFamily="49" charset="0"/>
                <a:ea typeface="JetBrains Mono" panose="02000009000000000000" pitchFamily="49" charset="0"/>
                <a:cs typeface="JetBrains Mono" panose="02000009000000000000" pitchFamily="49" charset="0"/>
              </a:rPr>
              <a:t>- Google's Android OS</a:t>
            </a:r>
          </a:p>
          <a:p>
            <a:r>
              <a:rPr lang="en-IN" dirty="0">
                <a:latin typeface="JetBrains Mono" panose="02000009000000000000" pitchFamily="49" charset="0"/>
                <a:ea typeface="JetBrains Mono" panose="02000009000000000000" pitchFamily="49" charset="0"/>
                <a:cs typeface="JetBrains Mono" panose="02000009000000000000" pitchFamily="49" charset="0"/>
              </a:rPr>
              <a:t>- Linux Operating System</a:t>
            </a:r>
          </a:p>
          <a:p>
            <a:pPr marL="285750" indent="-285750">
              <a:buFontTx/>
              <a:buChar char="-"/>
            </a:pPr>
            <a:r>
              <a:rPr lang="en-IN" dirty="0">
                <a:latin typeface="JetBrains Mono" panose="02000009000000000000" pitchFamily="49" charset="0"/>
                <a:ea typeface="JetBrains Mono" panose="02000009000000000000" pitchFamily="49" charset="0"/>
                <a:cs typeface="JetBrains Mono" panose="02000009000000000000" pitchFamily="49" charset="0"/>
              </a:rPr>
              <a:t>Apple iOS</a:t>
            </a:r>
          </a:p>
          <a:p>
            <a:pPr marL="285750" indent="-285750">
              <a:buFontTx/>
              <a:buChar char="-"/>
            </a:pPr>
            <a:r>
              <a:rPr lang="en-GB" dirty="0">
                <a:latin typeface="JetBrains Mono" panose="02000009000000000000" pitchFamily="49" charset="0"/>
                <a:ea typeface="JetBrains Mono" panose="02000009000000000000" pitchFamily="49" charset="0"/>
                <a:cs typeface="JetBrains Mono" panose="02000009000000000000" pitchFamily="49" charset="0"/>
              </a:rPr>
              <a:t>All Home appliances uses different-different OS</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5" name="TextBox 4"/>
          <p:cNvSpPr txBox="1"/>
          <p:nvPr/>
        </p:nvSpPr>
        <p:spPr>
          <a:xfrm>
            <a:off x="329453" y="2662518"/>
            <a:ext cx="9421169" cy="523220"/>
          </a:xfrm>
          <a:prstGeom prst="rect">
            <a:avLst/>
          </a:prstGeom>
          <a:noFill/>
        </p:spPr>
        <p:txBody>
          <a:bodyPr wrap="none" rtlCol="0">
            <a:spAutoFit/>
          </a:bodyPr>
          <a:lstStyle/>
          <a:p>
            <a:r>
              <a:rPr lang="en-GB"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How many types of Operating System exists? </a:t>
            </a:r>
            <a:endPar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6" name="TextBox 5"/>
          <p:cNvSpPr txBox="1"/>
          <p:nvPr/>
        </p:nvSpPr>
        <p:spPr>
          <a:xfrm>
            <a:off x="322730" y="3334871"/>
            <a:ext cx="11611535" cy="646331"/>
          </a:xfrm>
          <a:prstGeom prst="rect">
            <a:avLst/>
          </a:prstGeom>
          <a:noFill/>
        </p:spPr>
        <p:txBody>
          <a:bodyPr wrap="square" rtlCol="0">
            <a:spAutoFit/>
          </a:bodyPr>
          <a:lstStyle/>
          <a:p>
            <a:r>
              <a:rPr lang="en-GB" sz="3600"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Uncountable……… </a:t>
            </a:r>
            <a:r>
              <a:rPr lang="en-GB" sz="1200"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(Its just like asking how many brands of shampoo’s exists around the globe??)</a:t>
            </a:r>
            <a:endParaRPr lang="en-IN" sz="1200"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endParaRP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80331" y="4167469"/>
            <a:ext cx="3913093" cy="2188886"/>
          </a:xfrm>
          <a:prstGeom prst="rect">
            <a:avLst/>
          </a:prstGeom>
        </p:spPr>
      </p:pic>
    </p:spTree>
    <p:extLst>
      <p:ext uri="{BB962C8B-B14F-4D97-AF65-F5344CB8AC3E}">
        <p14:creationId xmlns:p14="http://schemas.microsoft.com/office/powerpoint/2010/main" val="12745691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00853" y="4349715"/>
            <a:ext cx="11974605" cy="1477328"/>
          </a:xfrm>
          <a:prstGeom prst="rect">
            <a:avLst/>
          </a:prstGeom>
        </p:spPr>
        <p:txBody>
          <a:bodyPr wrap="square">
            <a:spAutoFit/>
          </a:bodyPr>
          <a:lstStyle/>
          <a:p>
            <a:pPr algn="just">
              <a:spcAft>
                <a:spcPts val="0"/>
              </a:spcAft>
            </a:pPr>
            <a:r>
              <a:rPr lang="en-US" dirty="0">
                <a:latin typeface="JetBrains Mono" panose="02000009000000000000" pitchFamily="49" charset="0"/>
                <a:ea typeface="JetBrains Mono" panose="02000009000000000000" pitchFamily="49" charset="0"/>
                <a:cs typeface="JetBrains Mono" panose="02000009000000000000" pitchFamily="49" charset="0"/>
              </a:rPr>
              <a:t>Audio components fax machines, scanners, printers, cell phones, personal digital assistants, mobile phones and also wrist watches all these devices are enhanced with microprocessors and are becoming the part of the network. </a:t>
            </a:r>
            <a:r>
              <a:rPr lang="en-US"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Now our network is not homogenous it’s heterogeneous</a:t>
            </a:r>
            <a:r>
              <a:rPr lang="en-US" dirty="0">
                <a:latin typeface="JetBrains Mono" panose="02000009000000000000" pitchFamily="49" charset="0"/>
                <a:ea typeface="JetBrains Mono" panose="02000009000000000000" pitchFamily="49" charset="0"/>
                <a:cs typeface="JetBrains Mono" panose="02000009000000000000" pitchFamily="49" charset="0"/>
              </a:rPr>
              <a:t> .In the sense that different devices (different in hardware, architecture and operating system) are becoming the part of the network.</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4" name="Rectangle 3"/>
          <p:cNvSpPr/>
          <p:nvPr/>
        </p:nvSpPr>
        <p:spPr>
          <a:xfrm>
            <a:off x="100853" y="249695"/>
            <a:ext cx="11739281" cy="1200329"/>
          </a:xfrm>
          <a:prstGeom prst="rect">
            <a:avLst/>
          </a:prstGeom>
        </p:spPr>
        <p:txBody>
          <a:bodyPr wrap="square">
            <a:spAutoFit/>
          </a:bodyPr>
          <a:lstStyle/>
          <a:p>
            <a:pPr algn="just"/>
            <a:r>
              <a:rPr lang="en-US"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A single java program can run unchanged on a wide range of computers and devices. Compared with </a:t>
            </a:r>
            <a:r>
              <a:rPr lang="en-US"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programs compiled for a specific hardware and operating system</a:t>
            </a:r>
            <a:r>
              <a:rPr lang="en-US"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Platform independent programs written in Java can be easier and cheaper to develop, administer and maintain. </a:t>
            </a:r>
            <a:endPar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endParaRPr>
          </a:p>
        </p:txBody>
      </p:sp>
      <p:pic>
        <p:nvPicPr>
          <p:cNvPr id="2050" name="Picture 2" descr="Figure showing MyProgram.java, compiler, MyProgram.class, Java VM, and My Program running on a compute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363" y="1993341"/>
            <a:ext cx="9927479" cy="17123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p:cNvSpPr txBox="1"/>
          <p:nvPr/>
        </p:nvSpPr>
        <p:spPr>
          <a:xfrm>
            <a:off x="9337639" y="6368527"/>
            <a:ext cx="2694969" cy="276999"/>
          </a:xfrm>
          <a:prstGeom prst="rect">
            <a:avLst/>
          </a:prstGeom>
          <a:noFill/>
        </p:spPr>
        <p:txBody>
          <a:bodyPr wrap="none" rtlCol="0">
            <a:spAutoFit/>
          </a:bodyPr>
          <a:lstStyle/>
          <a:p>
            <a:r>
              <a:rPr lang="en-GB" sz="1200" dirty="0" err="1">
                <a:solidFill>
                  <a:srgbClr val="FF0000"/>
                </a:solidFill>
                <a:latin typeface="JetBrains Mono" panose="02000009000000000000" pitchFamily="49" charset="0"/>
                <a:ea typeface="JetBrains Mono" panose="02000009000000000000" pitchFamily="49" charset="0"/>
                <a:cs typeface="JetBrains Mono" panose="02000009000000000000" pitchFamily="49" charset="0"/>
              </a:rPr>
              <a:t>programming_heist_professor</a:t>
            </a:r>
            <a:endParaRPr lang="en-IN" sz="1200" dirty="0">
              <a:solidFill>
                <a:srgbClr val="FF0000"/>
              </a:solidFill>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38495540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50576" y="272534"/>
            <a:ext cx="3570208" cy="523220"/>
          </a:xfrm>
          <a:prstGeom prst="rect">
            <a:avLst/>
          </a:prstGeom>
        </p:spPr>
        <p:txBody>
          <a:bodyPr wrap="none">
            <a:spAutoFit/>
          </a:bodyPr>
          <a:lstStyle/>
          <a:p>
            <a:r>
              <a:rPr lang="en-US" sz="2800" b="1"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The Architecture</a:t>
            </a:r>
            <a:endPar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4" name="Rectangle 3"/>
          <p:cNvSpPr/>
          <p:nvPr/>
        </p:nvSpPr>
        <p:spPr>
          <a:xfrm>
            <a:off x="365312" y="974503"/>
            <a:ext cx="11380694" cy="2031325"/>
          </a:xfrm>
          <a:prstGeom prst="rect">
            <a:avLst/>
          </a:prstGeom>
        </p:spPr>
        <p:txBody>
          <a:bodyPr wrap="square">
            <a:spAutoFit/>
          </a:bodyPr>
          <a:lstStyle/>
          <a:p>
            <a:pPr algn="just">
              <a:spcAft>
                <a:spcPts val="0"/>
              </a:spcAft>
            </a:pPr>
            <a:r>
              <a:rPr lang="en-US" dirty="0">
                <a:latin typeface="JetBrains Mono" panose="02000009000000000000" pitchFamily="49" charset="0"/>
                <a:ea typeface="JetBrains Mono" panose="02000009000000000000" pitchFamily="49" charset="0"/>
                <a:cs typeface="JetBrains Mono" panose="02000009000000000000" pitchFamily="49" charset="0"/>
              </a:rPr>
              <a:t>Java architecture is composed of four distinct but interrelated technologies each of which is defined by a separate specification from Sun Microsystems.</a:t>
            </a:r>
          </a:p>
          <a:p>
            <a:pPr lvl="0" algn="just">
              <a:spcAft>
                <a:spcPts val="0"/>
              </a:spcAft>
              <a:tabLst>
                <a:tab pos="457200" algn="l"/>
              </a:tabLst>
            </a:pPr>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pPr lvl="0" algn="just">
              <a:spcAft>
                <a:spcPts val="0"/>
              </a:spcAft>
              <a:tabLst>
                <a:tab pos="457200" algn="l"/>
              </a:tabLst>
            </a:pPr>
            <a:r>
              <a:rPr lang="en-IN" dirty="0">
                <a:latin typeface="JetBrains Mono" panose="02000009000000000000" pitchFamily="49" charset="0"/>
                <a:ea typeface="JetBrains Mono" panose="02000009000000000000" pitchFamily="49" charset="0"/>
                <a:cs typeface="JetBrains Mono" panose="02000009000000000000" pitchFamily="49" charset="0"/>
              </a:rPr>
              <a:t> - </a:t>
            </a:r>
            <a:r>
              <a:rPr lang="en-US" dirty="0">
                <a:latin typeface="JetBrains Mono" panose="02000009000000000000" pitchFamily="49" charset="0"/>
                <a:ea typeface="JetBrains Mono" panose="02000009000000000000" pitchFamily="49" charset="0"/>
                <a:cs typeface="JetBrains Mono" panose="02000009000000000000" pitchFamily="49" charset="0"/>
              </a:rPr>
              <a:t>The Java programming language</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pPr lvl="0" algn="just">
              <a:spcAft>
                <a:spcPts val="0"/>
              </a:spcAft>
              <a:tabLst>
                <a:tab pos="457200" algn="l"/>
              </a:tabLst>
            </a:pPr>
            <a:r>
              <a:rPr lang="en-US" dirty="0">
                <a:latin typeface="JetBrains Mono" panose="02000009000000000000" pitchFamily="49" charset="0"/>
                <a:ea typeface="JetBrains Mono" panose="02000009000000000000" pitchFamily="49" charset="0"/>
                <a:cs typeface="JetBrains Mono" panose="02000009000000000000" pitchFamily="49" charset="0"/>
              </a:rPr>
              <a:t> - The Java class file format</a:t>
            </a:r>
            <a:r>
              <a:rPr lang="en-IN" dirty="0">
                <a:latin typeface="JetBrains Mono" panose="02000009000000000000" pitchFamily="49" charset="0"/>
                <a:ea typeface="JetBrains Mono" panose="02000009000000000000" pitchFamily="49" charset="0"/>
                <a:cs typeface="JetBrains Mono" panose="02000009000000000000" pitchFamily="49" charset="0"/>
              </a:rPr>
              <a:t> </a:t>
            </a:r>
          </a:p>
          <a:p>
            <a:pPr lvl="0" algn="just">
              <a:spcAft>
                <a:spcPts val="0"/>
              </a:spcAft>
              <a:tabLst>
                <a:tab pos="457200" algn="l"/>
              </a:tabLst>
            </a:pPr>
            <a:r>
              <a:rPr lang="en-IN" dirty="0">
                <a:latin typeface="JetBrains Mono" panose="02000009000000000000" pitchFamily="49" charset="0"/>
                <a:ea typeface="JetBrains Mono" panose="02000009000000000000" pitchFamily="49" charset="0"/>
                <a:cs typeface="JetBrains Mono" panose="02000009000000000000" pitchFamily="49" charset="0"/>
              </a:rPr>
              <a:t> - </a:t>
            </a:r>
            <a:r>
              <a:rPr lang="en-US" dirty="0">
                <a:latin typeface="JetBrains Mono" panose="02000009000000000000" pitchFamily="49" charset="0"/>
                <a:ea typeface="JetBrains Mono" panose="02000009000000000000" pitchFamily="49" charset="0"/>
                <a:cs typeface="JetBrains Mono" panose="02000009000000000000" pitchFamily="49" charset="0"/>
              </a:rPr>
              <a:t>The Java Application Programming Interface</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pPr lvl="0" algn="just">
              <a:spcAft>
                <a:spcPts val="0"/>
              </a:spcAft>
              <a:tabLst>
                <a:tab pos="457200" algn="l"/>
              </a:tabLst>
            </a:pPr>
            <a:r>
              <a:rPr lang="en-IN" dirty="0">
                <a:latin typeface="JetBrains Mono" panose="02000009000000000000" pitchFamily="49" charset="0"/>
                <a:ea typeface="JetBrains Mono" panose="02000009000000000000" pitchFamily="49" charset="0"/>
                <a:cs typeface="JetBrains Mono" panose="02000009000000000000" pitchFamily="49" charset="0"/>
              </a:rPr>
              <a:t> - </a:t>
            </a:r>
            <a:r>
              <a:rPr lang="en-US" dirty="0">
                <a:latin typeface="JetBrains Mono" panose="02000009000000000000" pitchFamily="49" charset="0"/>
                <a:ea typeface="JetBrains Mono" panose="02000009000000000000" pitchFamily="49" charset="0"/>
                <a:cs typeface="JetBrains Mono" panose="02000009000000000000" pitchFamily="49" charset="0"/>
              </a:rPr>
              <a:t>The Java Virtual Machine</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p:txBody>
      </p:sp>
      <p:pic>
        <p:nvPicPr>
          <p:cNvPr id="3074" name="Picture 2" descr="Figure showing source code, compiler, and Java VM's for Win32, Solaris OS/Linux, and Mac O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6056" y="3198439"/>
            <a:ext cx="3775450" cy="34274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p:cNvPicPr>
            <a:picLocks noChangeAspect="1"/>
          </p:cNvPicPr>
          <p:nvPr/>
        </p:nvPicPr>
        <p:blipFill>
          <a:blip r:embed="rId3"/>
          <a:stretch>
            <a:fillRect/>
          </a:stretch>
        </p:blipFill>
        <p:spPr>
          <a:xfrm>
            <a:off x="4808408" y="3554493"/>
            <a:ext cx="6517567" cy="2402554"/>
          </a:xfrm>
          <a:prstGeom prst="rect">
            <a:avLst/>
          </a:prstGeom>
        </p:spPr>
      </p:pic>
      <p:sp>
        <p:nvSpPr>
          <p:cNvPr id="6" name="TextBox 5"/>
          <p:cNvSpPr txBox="1"/>
          <p:nvPr/>
        </p:nvSpPr>
        <p:spPr>
          <a:xfrm>
            <a:off x="9337639" y="6368527"/>
            <a:ext cx="2694969" cy="276999"/>
          </a:xfrm>
          <a:prstGeom prst="rect">
            <a:avLst/>
          </a:prstGeom>
          <a:noFill/>
        </p:spPr>
        <p:txBody>
          <a:bodyPr wrap="none" rtlCol="0">
            <a:spAutoFit/>
          </a:bodyPr>
          <a:lstStyle/>
          <a:p>
            <a:r>
              <a:rPr lang="en-GB" sz="1200" dirty="0" err="1">
                <a:solidFill>
                  <a:srgbClr val="FF0000"/>
                </a:solidFill>
                <a:latin typeface="JetBrains Mono" panose="02000009000000000000" pitchFamily="49" charset="0"/>
                <a:ea typeface="JetBrains Mono" panose="02000009000000000000" pitchFamily="49" charset="0"/>
                <a:cs typeface="JetBrains Mono" panose="02000009000000000000" pitchFamily="49" charset="0"/>
              </a:rPr>
              <a:t>programming_heist_professor</a:t>
            </a:r>
            <a:endParaRPr lang="en-IN" sz="1200" dirty="0">
              <a:solidFill>
                <a:srgbClr val="FF0000"/>
              </a:solidFill>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29081771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71808" y="3333287"/>
            <a:ext cx="5620870" cy="3228878"/>
          </a:xfrm>
          <a:prstGeom prst="rect">
            <a:avLst/>
          </a:prstGeom>
        </p:spPr>
      </p:pic>
      <p:sp>
        <p:nvSpPr>
          <p:cNvPr id="3" name="Rectangle 2"/>
          <p:cNvSpPr/>
          <p:nvPr/>
        </p:nvSpPr>
        <p:spPr>
          <a:xfrm>
            <a:off x="81378" y="97721"/>
            <a:ext cx="6178228" cy="461665"/>
          </a:xfrm>
          <a:prstGeom prst="rect">
            <a:avLst/>
          </a:prstGeom>
        </p:spPr>
        <p:txBody>
          <a:bodyPr wrap="square">
            <a:spAutoFit/>
          </a:bodyPr>
          <a:lstStyle/>
          <a:p>
            <a:r>
              <a:rPr lang="en-IN"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Java Virtual Machine(JVM)</a:t>
            </a:r>
          </a:p>
        </p:txBody>
      </p:sp>
      <p:sp>
        <p:nvSpPr>
          <p:cNvPr id="4" name="Rectangle 3"/>
          <p:cNvSpPr/>
          <p:nvPr/>
        </p:nvSpPr>
        <p:spPr>
          <a:xfrm>
            <a:off x="136712" y="553588"/>
            <a:ext cx="11837894" cy="646331"/>
          </a:xfrm>
          <a:prstGeom prst="rect">
            <a:avLst/>
          </a:prstGeom>
        </p:spPr>
        <p:txBody>
          <a:bodyPr wrap="square">
            <a:spAutoFit/>
          </a:bodyPr>
          <a:lstStyle/>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Every Operating System has a different JVM but the output they produce after the execution of bytecode is the same across all the operating systems.</a:t>
            </a:r>
          </a:p>
        </p:txBody>
      </p:sp>
      <p:sp>
        <p:nvSpPr>
          <p:cNvPr id="5" name="Rectangle 4"/>
          <p:cNvSpPr/>
          <p:nvPr/>
        </p:nvSpPr>
        <p:spPr>
          <a:xfrm>
            <a:off x="128592" y="1254169"/>
            <a:ext cx="5715026" cy="461665"/>
          </a:xfrm>
          <a:prstGeom prst="rect">
            <a:avLst/>
          </a:prstGeom>
        </p:spPr>
        <p:txBody>
          <a:bodyPr wrap="none">
            <a:spAutoFit/>
          </a:bodyPr>
          <a:lstStyle/>
          <a:p>
            <a:r>
              <a:rPr lang="en-IN"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Java Runtime Environment (JRE)</a:t>
            </a:r>
          </a:p>
        </p:txBody>
      </p:sp>
      <p:sp>
        <p:nvSpPr>
          <p:cNvPr id="6" name="Rectangle 5"/>
          <p:cNvSpPr/>
          <p:nvPr/>
        </p:nvSpPr>
        <p:spPr>
          <a:xfrm>
            <a:off x="69476" y="1662971"/>
            <a:ext cx="11622741"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JDK includes JRE. JRE installation on our computers allows the java program to run. For running the java program, a computer needs JRE.</a:t>
            </a:r>
          </a:p>
        </p:txBody>
      </p:sp>
      <p:sp>
        <p:nvSpPr>
          <p:cNvPr id="7" name="TextBox 6"/>
          <p:cNvSpPr txBox="1"/>
          <p:nvPr/>
        </p:nvSpPr>
        <p:spPr>
          <a:xfrm>
            <a:off x="201707" y="2460812"/>
            <a:ext cx="4977645" cy="461665"/>
          </a:xfrm>
          <a:prstGeom prst="rect">
            <a:avLst/>
          </a:prstGeom>
        </p:spPr>
        <p:txBody>
          <a:bodyPr wrap="square">
            <a:spAutoFit/>
          </a:bodyPr>
          <a:lstStyle>
            <a:defPPr>
              <a:defRPr lang="en-US"/>
            </a:defPPr>
            <a:lvl1pPr>
              <a:defRPr sz="2400">
                <a:solidFill>
                  <a:srgbClr val="FFC000"/>
                </a:solidFill>
                <a:latin typeface="JetBrains Mono" panose="02000009000000000000" pitchFamily="49" charset="0"/>
                <a:ea typeface="JetBrains Mono" panose="02000009000000000000" pitchFamily="49" charset="0"/>
                <a:cs typeface="JetBrains Mono" panose="02000009000000000000" pitchFamily="49" charset="0"/>
              </a:defRPr>
            </a:lvl1pPr>
          </a:lstStyle>
          <a:p>
            <a:r>
              <a:rPr lang="en-GB" dirty="0"/>
              <a:t>Java Development Kit (JDK)</a:t>
            </a:r>
            <a:endParaRPr lang="en-IN" dirty="0"/>
          </a:p>
        </p:txBody>
      </p:sp>
      <p:sp>
        <p:nvSpPr>
          <p:cNvPr id="8" name="Rectangle 7"/>
          <p:cNvSpPr/>
          <p:nvPr/>
        </p:nvSpPr>
        <p:spPr>
          <a:xfrm>
            <a:off x="210670" y="2924300"/>
            <a:ext cx="11925301" cy="369332"/>
          </a:xfrm>
          <a:prstGeom prst="rect">
            <a:avLst/>
          </a:prstGeom>
        </p:spPr>
        <p:txBody>
          <a:bodyPr wrap="square">
            <a:spAutoFit/>
          </a:bodyPr>
          <a:lstStyle/>
          <a:p>
            <a:r>
              <a:rPr lang="en-GB" dirty="0">
                <a:latin typeface="JetBrains Mono" panose="02000009000000000000" pitchFamily="49" charset="0"/>
                <a:ea typeface="JetBrains Mono" panose="02000009000000000000" pitchFamily="49" charset="0"/>
                <a:cs typeface="JetBrains Mono" panose="02000009000000000000" pitchFamily="49" charset="0"/>
              </a:rPr>
              <a:t>The Java Development Kit (JDK) is a cross-</a:t>
            </a:r>
            <a:r>
              <a:rPr lang="en-GB" dirty="0" err="1">
                <a:latin typeface="JetBrains Mono" panose="02000009000000000000" pitchFamily="49" charset="0"/>
                <a:ea typeface="JetBrains Mono" panose="02000009000000000000" pitchFamily="49" charset="0"/>
                <a:cs typeface="JetBrains Mono" panose="02000009000000000000" pitchFamily="49" charset="0"/>
              </a:rPr>
              <a:t>platformed</a:t>
            </a:r>
            <a:r>
              <a:rPr lang="en-GB" dirty="0">
                <a:latin typeface="JetBrains Mono" panose="02000009000000000000" pitchFamily="49" charset="0"/>
                <a:ea typeface="JetBrains Mono" panose="02000009000000000000" pitchFamily="49" charset="0"/>
                <a:cs typeface="JetBrains Mono" panose="02000009000000000000" pitchFamily="49" charset="0"/>
              </a:rPr>
              <a:t> software development environment.</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9" name="TextBox 8"/>
          <p:cNvSpPr txBox="1"/>
          <p:nvPr/>
        </p:nvSpPr>
        <p:spPr>
          <a:xfrm>
            <a:off x="9337639" y="6368527"/>
            <a:ext cx="2694969" cy="276999"/>
          </a:xfrm>
          <a:prstGeom prst="rect">
            <a:avLst/>
          </a:prstGeom>
          <a:noFill/>
        </p:spPr>
        <p:txBody>
          <a:bodyPr wrap="none" rtlCol="0">
            <a:spAutoFit/>
          </a:bodyPr>
          <a:lstStyle/>
          <a:p>
            <a:r>
              <a:rPr lang="en-GB" sz="1200" dirty="0" err="1">
                <a:solidFill>
                  <a:srgbClr val="FF0000"/>
                </a:solidFill>
                <a:latin typeface="JetBrains Mono" panose="02000009000000000000" pitchFamily="49" charset="0"/>
                <a:ea typeface="JetBrains Mono" panose="02000009000000000000" pitchFamily="49" charset="0"/>
                <a:cs typeface="JetBrains Mono" panose="02000009000000000000" pitchFamily="49" charset="0"/>
              </a:rPr>
              <a:t>programming_heist_professor</a:t>
            </a:r>
            <a:endParaRPr lang="en-IN" sz="1200" dirty="0">
              <a:solidFill>
                <a:srgbClr val="FF0000"/>
              </a:solidFill>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234268341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F46216B-77A9-411A-B9D3-5023FCB70208}"/>
    </a:ext>
  </a:extLst>
</a:theme>
</file>

<file path=docProps/app.xml><?xml version="1.0" encoding="utf-8"?>
<Properties xmlns="http://schemas.openxmlformats.org/officeDocument/2006/extended-properties" xmlns:vt="http://schemas.openxmlformats.org/officeDocument/2006/docPropsVTypes">
  <Template>Office Theme</Template>
  <TotalTime>11571</TotalTime>
  <Words>1243</Words>
  <Application>Microsoft Office PowerPoint</Application>
  <PresentationFormat>Widescreen</PresentationFormat>
  <Paragraphs>121</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Calibri Light</vt:lpstr>
      <vt:lpstr>JetBrains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aashi kansal</dc:creator>
  <cp:lastModifiedBy>AASHI KANSAL</cp:lastModifiedBy>
  <cp:revision>100</cp:revision>
  <dcterms:created xsi:type="dcterms:W3CDTF">2023-03-24T10:43:18Z</dcterms:created>
  <dcterms:modified xsi:type="dcterms:W3CDTF">2026-02-02T04:52:07Z</dcterms:modified>
</cp:coreProperties>
</file>