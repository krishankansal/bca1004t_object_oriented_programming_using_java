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0" r:id="rId3"/>
    <p:sldId id="271" r:id="rId4"/>
    <p:sldId id="272" r:id="rId5"/>
    <p:sldId id="273" r:id="rId6"/>
    <p:sldId id="274" r:id="rId7"/>
    <p:sldId id="275" r:id="rId8"/>
    <p:sldId id="267" r:id="rId9"/>
    <p:sldId id="268" r:id="rId10"/>
    <p:sldId id="257" r:id="rId11"/>
    <p:sldId id="258" r:id="rId12"/>
    <p:sldId id="259" r:id="rId13"/>
    <p:sldId id="260" r:id="rId14"/>
    <p:sldId id="261" r:id="rId15"/>
    <p:sldId id="262" r:id="rId16"/>
    <p:sldId id="269" r:id="rId17"/>
    <p:sldId id="266" r:id="rId18"/>
    <p:sldId id="264" r:id="rId19"/>
    <p:sldId id="263" r:id="rId20"/>
    <p:sldId id="26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ashi kansal" initials="ak" lastIdx="1" clrIdx="0">
    <p:extLst>
      <p:ext uri="{19B8F6BF-5375-455C-9EA6-DF929625EA0E}">
        <p15:presenceInfo xmlns:p15="http://schemas.microsoft.com/office/powerpoint/2012/main" userId="b276625e964ca80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F64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9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3-24T20:02:23.432" idx="1">
    <p:pos x="10" y="10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145A1-8EC9-42F6-9463-837C2067D09A}" type="datetimeFigureOut">
              <a:rPr lang="en-IN" smtClean="0"/>
              <a:t>04-05-2023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FCCAA-F3BC-4ECA-B613-94C1BD6FD1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7583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145A1-8EC9-42F6-9463-837C2067D09A}" type="datetimeFigureOut">
              <a:rPr lang="en-IN" smtClean="0"/>
              <a:t>04-05-2023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FCCAA-F3BC-4ECA-B613-94C1BD6FD1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9262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145A1-8EC9-42F6-9463-837C2067D09A}" type="datetimeFigureOut">
              <a:rPr lang="en-IN" smtClean="0"/>
              <a:t>04-05-2023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FCCAA-F3BC-4ECA-B613-94C1BD6FD1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5127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145A1-8EC9-42F6-9463-837C2067D09A}" type="datetimeFigureOut">
              <a:rPr lang="en-IN" smtClean="0"/>
              <a:t>04-05-2023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FCCAA-F3BC-4ECA-B613-94C1BD6FD1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7039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145A1-8EC9-42F6-9463-837C2067D09A}" type="datetimeFigureOut">
              <a:rPr lang="en-IN" smtClean="0"/>
              <a:t>04-05-2023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FCCAA-F3BC-4ECA-B613-94C1BD6FD1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867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145A1-8EC9-42F6-9463-837C2067D09A}" type="datetimeFigureOut">
              <a:rPr lang="en-IN" smtClean="0"/>
              <a:t>04-05-2023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FCCAA-F3BC-4ECA-B613-94C1BD6FD1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7611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145A1-8EC9-42F6-9463-837C2067D09A}" type="datetimeFigureOut">
              <a:rPr lang="en-IN" smtClean="0"/>
              <a:t>04-05-2023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FCCAA-F3BC-4ECA-B613-94C1BD6FD1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0527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145A1-8EC9-42F6-9463-837C2067D09A}" type="datetimeFigureOut">
              <a:rPr lang="en-IN" smtClean="0"/>
              <a:t>04-05-2023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FCCAA-F3BC-4ECA-B613-94C1BD6FD1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3770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145A1-8EC9-42F6-9463-837C2067D09A}" type="datetimeFigureOut">
              <a:rPr lang="en-IN" smtClean="0"/>
              <a:t>04-05-2023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FCCAA-F3BC-4ECA-B613-94C1BD6FD1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237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145A1-8EC9-42F6-9463-837C2067D09A}" type="datetimeFigureOut">
              <a:rPr lang="en-IN" smtClean="0"/>
              <a:t>04-05-2023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FCCAA-F3BC-4ECA-B613-94C1BD6FD1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5467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145A1-8EC9-42F6-9463-837C2067D09A}" type="datetimeFigureOut">
              <a:rPr lang="en-IN" smtClean="0"/>
              <a:t>04-05-2023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FCCAA-F3BC-4ECA-B613-94C1BD6FD1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1467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E145A1-8EC9-42F6-9463-837C2067D09A}" type="datetimeFigureOut">
              <a:rPr lang="en-IN" smtClean="0"/>
              <a:t>04-05-2023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FCCAA-F3BC-4ECA-B613-94C1BD6FD1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8227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 descr="Java Logo png download - 768*768 - Free Transparent Logo png Download. -  CleanPNG / KissPNG"/>
          <p:cNvSpPr>
            <a:spLocks noChangeAspect="1" noChangeArrowheads="1"/>
          </p:cNvSpPr>
          <p:nvPr/>
        </p:nvSpPr>
        <p:spPr bwMode="auto">
          <a:xfrm>
            <a:off x="155574" y="-144463"/>
            <a:ext cx="2801593" cy="2801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1" name="Picture 10" descr="HD wallpaper: Java, studio shot, no people, copy space, indoors, black background | Wallpaper Flar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7555" y="398144"/>
            <a:ext cx="6263809" cy="3524103"/>
          </a:xfrm>
          <a:prstGeom prst="rect">
            <a:avLst/>
          </a:prstGeom>
          <a:effectLst>
            <a:reflection endPos="65000" dist="50800" dir="5400000" sy="-100000" algn="bl" rotWithShape="0"/>
          </a:effec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0526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337639" y="6368527"/>
            <a:ext cx="26949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err="1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</a:t>
            </a:r>
            <a:r>
              <a:rPr lang="en-GB" sz="1200" dirty="0" err="1" smtClean="0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rogramming_heist_professor</a:t>
            </a:r>
            <a:endParaRPr lang="en-IN" sz="1200" dirty="0">
              <a:solidFill>
                <a:srgbClr val="FF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66620" y="4303059"/>
            <a:ext cx="267327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600" dirty="0" smtClean="0">
                <a:solidFill>
                  <a:srgbClr val="FFFF00"/>
                </a:solidFill>
              </a:rPr>
              <a:t>2</a:t>
            </a:r>
            <a:endParaRPr lang="en-IN" sz="6600" dirty="0">
              <a:solidFill>
                <a:srgbClr val="FFFF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481773" y="3369714"/>
            <a:ext cx="66030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 smtClean="0">
                <a:solidFill>
                  <a:srgbClr val="FFFF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Running First java program</a:t>
            </a:r>
            <a:endParaRPr lang="en-IN" sz="3200" dirty="0">
              <a:solidFill>
                <a:srgbClr val="FFFF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4799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0706" y="226814"/>
            <a:ext cx="72731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The History and Evolution of Java</a:t>
            </a:r>
          </a:p>
        </p:txBody>
      </p:sp>
      <p:sp>
        <p:nvSpPr>
          <p:cNvPr id="3" name="Rectangle 2"/>
          <p:cNvSpPr/>
          <p:nvPr/>
        </p:nvSpPr>
        <p:spPr>
          <a:xfrm>
            <a:off x="396240" y="938189"/>
            <a:ext cx="1150709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Before C language</a:t>
            </a:r>
          </a:p>
          <a:p>
            <a:endParaRPr lang="en-IN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en-IN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Assembly language </a:t>
            </a:r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can be used to produce highly </a:t>
            </a:r>
            <a:r>
              <a:rPr lang="en-IN" dirty="0" smtClean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efficient programs</a:t>
            </a:r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but it is not easy to learn or use effectively. </a:t>
            </a:r>
            <a:endParaRPr lang="en-IN" dirty="0" smtClean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endParaRPr lang="en-IN" dirty="0" smtClean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en-IN" dirty="0" smtClean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Further</a:t>
            </a:r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IN" dirty="0" smtClean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debugging assembly </a:t>
            </a:r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code can be quite difficult</a:t>
            </a:r>
            <a:r>
              <a:rPr lang="en-IN" dirty="0" smtClean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endParaRPr lang="en-IN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63445" y="3251124"/>
            <a:ext cx="3648636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92D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Assembly         Machine</a:t>
            </a:r>
          </a:p>
          <a:p>
            <a:r>
              <a:rPr lang="en-IN" sz="1400" dirty="0">
                <a:solidFill>
                  <a:srgbClr val="92D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Language         Code</a:t>
            </a:r>
          </a:p>
          <a:p>
            <a:r>
              <a:rPr lang="en-IN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----------------------------</a:t>
            </a:r>
          </a:p>
          <a:p>
            <a:r>
              <a:rPr lang="en-IN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start:</a:t>
            </a:r>
          </a:p>
          <a:p>
            <a:r>
              <a:rPr lang="en-IN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MOV A,[0]        3e 00 00</a:t>
            </a:r>
          </a:p>
          <a:p>
            <a:r>
              <a:rPr lang="en-IN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SUB A,#4         58 04</a:t>
            </a:r>
          </a:p>
          <a:p>
            <a:r>
              <a:rPr lang="en-IN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JMP </a:t>
            </a:r>
            <a:r>
              <a:rPr lang="en-IN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NC,endloop</a:t>
            </a:r>
            <a:r>
              <a:rPr lang="en-IN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fb 0e</a:t>
            </a:r>
          </a:p>
          <a:p>
            <a:r>
              <a:rPr lang="en-IN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MOV A,[0]        3e 00 00</a:t>
            </a:r>
          </a:p>
          <a:p>
            <a:r>
              <a:rPr lang="en-IN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SUB A,#1         58 01</a:t>
            </a:r>
          </a:p>
          <a:p>
            <a:r>
              <a:rPr lang="en-IN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MOV [0],A        4e 00 00</a:t>
            </a:r>
          </a:p>
          <a:p>
            <a:r>
              <a:rPr lang="en-IN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ADD A,[1]        31 00 01</a:t>
            </a:r>
          </a:p>
          <a:p>
            <a:r>
              <a:rPr lang="en-IN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MOV [1],A        4e 00 01</a:t>
            </a:r>
          </a:p>
          <a:p>
            <a:r>
              <a:rPr lang="en-IN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JMP start        fc e9</a:t>
            </a:r>
          </a:p>
          <a:p>
            <a:r>
              <a:rPr lang="en-IN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endloop</a:t>
            </a:r>
            <a:r>
              <a:rPr lang="en-IN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</a:p>
        </p:txBody>
      </p:sp>
      <p:sp>
        <p:nvSpPr>
          <p:cNvPr id="7" name="Rectangle 6"/>
          <p:cNvSpPr/>
          <p:nvPr/>
        </p:nvSpPr>
        <p:spPr>
          <a:xfrm>
            <a:off x="7377953" y="3962417"/>
            <a:ext cx="191127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while (x--&lt;4) {</a:t>
            </a:r>
          </a:p>
          <a:p>
            <a:r>
              <a:rPr lang="en-IN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y+=x;</a:t>
            </a:r>
          </a:p>
          <a:p>
            <a:r>
              <a:rPr lang="en-IN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7639" y="6368527"/>
            <a:ext cx="26949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err="1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</a:t>
            </a:r>
            <a:r>
              <a:rPr lang="en-GB" sz="1200" dirty="0" err="1" smtClean="0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rogramming_heist_professor</a:t>
            </a:r>
            <a:endParaRPr lang="en-IN" sz="1200" dirty="0">
              <a:solidFill>
                <a:srgbClr val="FF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6219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74725" y="1723478"/>
            <a:ext cx="1073254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FORTRAN</a:t>
            </a:r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: could be used to write fairly efficient programs for scientific applications, it was not very good for system code.</a:t>
            </a:r>
          </a:p>
        </p:txBody>
      </p:sp>
      <p:sp>
        <p:nvSpPr>
          <p:cNvPr id="3" name="Rectangle 2"/>
          <p:cNvSpPr/>
          <p:nvPr/>
        </p:nvSpPr>
        <p:spPr>
          <a:xfrm>
            <a:off x="270024" y="226814"/>
            <a:ext cx="72731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The History and Evolution of Java</a:t>
            </a:r>
          </a:p>
        </p:txBody>
      </p:sp>
      <p:sp>
        <p:nvSpPr>
          <p:cNvPr id="4" name="Rectangle 3"/>
          <p:cNvSpPr/>
          <p:nvPr/>
        </p:nvSpPr>
        <p:spPr>
          <a:xfrm>
            <a:off x="345934" y="1012122"/>
            <a:ext cx="25282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Before C language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01617" y="4515087"/>
            <a:ext cx="103237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BASIC</a:t>
            </a:r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N" dirty="0" smtClean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was </a:t>
            </a:r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easy to learn, it wasn’t very powerful, and its lack of structure made its usefulness questionable for large programs.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758005" y="2461747"/>
            <a:ext cx="333666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 smtClean="0">
                <a:solidFill>
                  <a:srgbClr val="92D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Sample Fortran Program</a:t>
            </a:r>
          </a:p>
          <a:p>
            <a:r>
              <a:rPr lang="en-GB" sz="1400" dirty="0" smtClean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----------------------</a:t>
            </a:r>
            <a:endParaRPr lang="en-IN" sz="1400" dirty="0" smtClean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en-IN" sz="1400" dirty="0" smtClean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program </a:t>
            </a:r>
            <a:r>
              <a:rPr lang="en-IN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testingInt</a:t>
            </a:r>
            <a:endParaRPr lang="en-IN" sz="14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en-IN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implicit none</a:t>
            </a:r>
          </a:p>
          <a:p>
            <a:endParaRPr lang="en-IN" sz="14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en-IN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integer :: </a:t>
            </a:r>
            <a:r>
              <a:rPr lang="en-IN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largeval</a:t>
            </a:r>
            <a:endParaRPr lang="en-IN" sz="14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en-IN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print *, huge(</a:t>
            </a:r>
            <a:r>
              <a:rPr lang="en-IN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largeval</a:t>
            </a:r>
            <a:r>
              <a:rPr lang="en-IN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</a:p>
          <a:p>
            <a:r>
              <a:rPr lang="en-IN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</a:t>
            </a:r>
          </a:p>
          <a:p>
            <a:r>
              <a:rPr lang="en-IN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end program </a:t>
            </a:r>
            <a:r>
              <a:rPr lang="en-IN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testingInt</a:t>
            </a:r>
            <a:endParaRPr lang="en-IN" sz="14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83454" y="5270822"/>
            <a:ext cx="6096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400" dirty="0" smtClean="0">
                <a:solidFill>
                  <a:srgbClr val="92D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Sample Basic Program</a:t>
            </a:r>
          </a:p>
          <a:p>
            <a:r>
              <a:rPr lang="en-GB" sz="1400" dirty="0" smtClean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------------------------------</a:t>
            </a:r>
            <a:endParaRPr lang="en-IN" sz="1400" dirty="0" smtClean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en-IN" sz="1400" dirty="0" smtClean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INPUT </a:t>
            </a:r>
            <a:r>
              <a:rPr lang="en-IN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"Please type your first name &gt; ", </a:t>
            </a:r>
            <a:r>
              <a:rPr lang="en-IN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firstname</a:t>
            </a:r>
            <a:r>
              <a:rPr lang="en-IN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$</a:t>
            </a:r>
          </a:p>
          <a:p>
            <a:r>
              <a:rPr lang="en-IN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INPUT "Please type your last name &gt; ", </a:t>
            </a:r>
            <a:r>
              <a:rPr lang="en-IN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lastname</a:t>
            </a:r>
            <a:r>
              <a:rPr lang="en-IN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$</a:t>
            </a:r>
          </a:p>
          <a:p>
            <a:r>
              <a:rPr lang="en-IN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fullname</a:t>
            </a:r>
            <a:r>
              <a:rPr lang="en-IN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$ = </a:t>
            </a:r>
            <a:r>
              <a:rPr lang="en-IN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firstname</a:t>
            </a:r>
            <a:r>
              <a:rPr lang="en-IN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$ + " " + </a:t>
            </a:r>
            <a:r>
              <a:rPr lang="en-IN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lastname</a:t>
            </a:r>
            <a:r>
              <a:rPr lang="en-IN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$</a:t>
            </a:r>
          </a:p>
          <a:p>
            <a:r>
              <a:rPr lang="en-IN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 "Your full name is "; </a:t>
            </a:r>
            <a:r>
              <a:rPr lang="en-IN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fullname</a:t>
            </a:r>
            <a:r>
              <a:rPr lang="en-IN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7639" y="6368527"/>
            <a:ext cx="26949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err="1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</a:t>
            </a:r>
            <a:r>
              <a:rPr lang="en-GB" sz="1200" dirty="0" err="1" smtClean="0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rogramming_heist_professor</a:t>
            </a:r>
            <a:endParaRPr lang="en-IN" sz="1200" dirty="0">
              <a:solidFill>
                <a:srgbClr val="FF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9353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9040" y="307496"/>
            <a:ext cx="31918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dirty="0" smtClean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Now </a:t>
            </a:r>
            <a:r>
              <a:rPr lang="en-IN" sz="2800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 language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315556" y="990630"/>
            <a:ext cx="1135111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By the </a:t>
            </a:r>
            <a:r>
              <a:rPr lang="en-IN" dirty="0">
                <a:solidFill>
                  <a:srgbClr val="92D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early 1970s</a:t>
            </a:r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the computer revolution was beginning </a:t>
            </a:r>
            <a:r>
              <a:rPr lang="en-IN" dirty="0" smtClean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and the </a:t>
            </a:r>
            <a:r>
              <a:rPr lang="en-IN" dirty="0">
                <a:solidFill>
                  <a:srgbClr val="92D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demand for </a:t>
            </a:r>
            <a:r>
              <a:rPr lang="en-IN" dirty="0" smtClean="0">
                <a:solidFill>
                  <a:srgbClr val="92D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software</a:t>
            </a:r>
            <a:r>
              <a:rPr lang="en-IN" dirty="0" smtClean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was, before programmers</a:t>
            </a:r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’ </a:t>
            </a:r>
            <a:r>
              <a:rPr lang="en-IN" dirty="0" smtClean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to produce </a:t>
            </a:r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it. </a:t>
            </a:r>
            <a:endParaRPr lang="en-IN" dirty="0" smtClean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endParaRPr lang="en-IN" dirty="0" smtClean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en-IN" dirty="0" smtClean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 </a:t>
            </a:r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great deal of effort was being expended in academic circles in an attempt </a:t>
            </a:r>
            <a:r>
              <a:rPr lang="en-IN" dirty="0">
                <a:solidFill>
                  <a:srgbClr val="92D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to create a better computer language</a:t>
            </a:r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294041" y="2640577"/>
            <a:ext cx="108562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Computer hardware was finally </a:t>
            </a:r>
            <a:r>
              <a:rPr lang="en-IN" dirty="0" smtClean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available for general masses. </a:t>
            </a:r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 longer were computers kept behind locked doors</a:t>
            </a:r>
            <a:r>
              <a:rPr lang="en-IN" dirty="0" smtClean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 </a:t>
            </a:r>
            <a:r>
              <a:rPr lang="en-GB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This allowed the </a:t>
            </a:r>
            <a:r>
              <a:rPr lang="en-GB" dirty="0">
                <a:solidFill>
                  <a:srgbClr val="92D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freedom to experiment</a:t>
            </a:r>
            <a:r>
              <a:rPr lang="en-GB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endParaRPr lang="en-IN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10178" y="3482352"/>
            <a:ext cx="95761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92D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 programming language</a:t>
            </a:r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was developed in </a:t>
            </a:r>
            <a:r>
              <a:rPr lang="en-IN" dirty="0">
                <a:solidFill>
                  <a:srgbClr val="92D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1972</a:t>
            </a:r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by </a:t>
            </a:r>
            <a:r>
              <a:rPr lang="en-IN" dirty="0">
                <a:solidFill>
                  <a:srgbClr val="92D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Dennis Ritchie</a:t>
            </a:r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</a:p>
        </p:txBody>
      </p:sp>
      <p:pic>
        <p:nvPicPr>
          <p:cNvPr id="2050" name="Picture 2" descr="Inductee Dennis Ritchie, Who Invented Unix, Transformed ..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012" y="3924487"/>
            <a:ext cx="1770044" cy="2593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9337639" y="6368527"/>
            <a:ext cx="26949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err="1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</a:t>
            </a:r>
            <a:r>
              <a:rPr lang="en-GB" sz="1200" dirty="0" err="1" smtClean="0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rogramming_heist_professor</a:t>
            </a:r>
            <a:endParaRPr lang="en-IN" sz="1200" dirty="0">
              <a:solidFill>
                <a:srgbClr val="FF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2916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0710" y="1041738"/>
            <a:ext cx="1104451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During the late </a:t>
            </a:r>
            <a:r>
              <a:rPr lang="en-IN" dirty="0" smtClean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1972 </a:t>
            </a:r>
            <a:r>
              <a:rPr lang="en-IN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and early 1980s</a:t>
            </a:r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C became the dominant </a:t>
            </a:r>
            <a:r>
              <a:rPr lang="en-IN" dirty="0" smtClean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computer programming </a:t>
            </a:r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language, and it is still widely used today. </a:t>
            </a:r>
            <a:r>
              <a:rPr lang="en-IN" dirty="0" smtClean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Since then - C </a:t>
            </a:r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is a </a:t>
            </a:r>
            <a:r>
              <a:rPr lang="en-IN" dirty="0" smtClean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successful and </a:t>
            </a:r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useful language, 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845" y="312875"/>
            <a:ext cx="3994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dirty="0" smtClean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</a:t>
            </a:r>
            <a:endParaRPr lang="en-IN" sz="2800" dirty="0"/>
          </a:p>
        </p:txBody>
      </p:sp>
      <p:sp>
        <p:nvSpPr>
          <p:cNvPr id="4" name="Rectangle 3"/>
          <p:cNvSpPr/>
          <p:nvPr/>
        </p:nvSpPr>
        <p:spPr>
          <a:xfrm>
            <a:off x="536089" y="2164541"/>
            <a:ext cx="108616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you might ask why a need for something else existed. The answer is </a:t>
            </a:r>
            <a:r>
              <a:rPr lang="en-IN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complexity</a:t>
            </a:r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983" y="2799242"/>
            <a:ext cx="1018390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 </a:t>
            </a:r>
            <a:r>
              <a:rPr lang="en-IN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 if a program exceeds a certain point</a:t>
            </a:r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it </a:t>
            </a:r>
            <a:r>
              <a:rPr lang="en-IN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becomes so complex </a:t>
            </a:r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that it is difficult to grasp as a totality.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25332" y="3614144"/>
            <a:ext cx="110122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To solve </a:t>
            </a:r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this problem, a new way to program was invented, called </a:t>
            </a:r>
            <a:r>
              <a:rPr lang="en-IN" dirty="0" smtClean="0">
                <a:solidFill>
                  <a:srgbClr val="00B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object-oriented programming </a:t>
            </a:r>
            <a:r>
              <a:rPr lang="en-IN" dirty="0">
                <a:solidFill>
                  <a:srgbClr val="00B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(OOP).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37639" y="6368527"/>
            <a:ext cx="26949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err="1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</a:t>
            </a:r>
            <a:r>
              <a:rPr lang="en-GB" sz="1200" dirty="0" err="1" smtClean="0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rogramming_heist_professor</a:t>
            </a:r>
            <a:endParaRPr lang="en-IN" sz="1200" dirty="0">
              <a:solidFill>
                <a:srgbClr val="FF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340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1845" y="312875"/>
            <a:ext cx="8290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dirty="0" smtClean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C++</a:t>
            </a:r>
            <a:endParaRPr lang="en-IN" sz="2800" dirty="0"/>
          </a:p>
        </p:txBody>
      </p:sp>
      <p:sp>
        <p:nvSpPr>
          <p:cNvPr id="3" name="Rectangle 2"/>
          <p:cNvSpPr/>
          <p:nvPr/>
        </p:nvSpPr>
        <p:spPr>
          <a:xfrm>
            <a:off x="514574" y="924733"/>
            <a:ext cx="108401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C++ </a:t>
            </a:r>
            <a:r>
              <a:rPr lang="en-IN" dirty="0" smtClean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added features </a:t>
            </a:r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that enabled this threshold to be broken, allowing programmers </a:t>
            </a:r>
            <a:r>
              <a:rPr lang="en-IN" dirty="0" smtClean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to </a:t>
            </a:r>
            <a:r>
              <a:rPr lang="en-IN" dirty="0" smtClean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comprehend </a:t>
            </a:r>
            <a:r>
              <a:rPr lang="en-IN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and manage larger programs</a:t>
            </a:r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0124" y="1818946"/>
            <a:ext cx="6445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C++ was invented by </a:t>
            </a:r>
            <a:r>
              <a:rPr lang="en-IN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Bjarne </a:t>
            </a:r>
            <a:r>
              <a:rPr lang="en-IN" dirty="0" err="1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Stroustrup</a:t>
            </a:r>
            <a:r>
              <a:rPr lang="en-IN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in 1979</a:t>
            </a:r>
            <a:r>
              <a:rPr lang="en-IN" dirty="0"/>
              <a:t>.</a:t>
            </a:r>
          </a:p>
        </p:txBody>
      </p:sp>
      <p:pic>
        <p:nvPicPr>
          <p:cNvPr id="1026" name="Picture 2" descr="Bjarne Stroustrup | Columbia Engineer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242" y="2334409"/>
            <a:ext cx="1958302" cy="1958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627528" y="4702016"/>
            <a:ext cx="1110368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The invention </a:t>
            </a:r>
            <a:r>
              <a:rPr lang="en-IN" dirty="0" smtClean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of C</a:t>
            </a:r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++ was not an attempt to create a completely new programming language</a:t>
            </a:r>
            <a:r>
              <a:rPr lang="en-IN" dirty="0" smtClean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</a:p>
          <a:p>
            <a:endParaRPr lang="en-IN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Instead, </a:t>
            </a:r>
            <a:r>
              <a:rPr lang="en-IN" dirty="0" smtClean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C++ </a:t>
            </a:r>
            <a:r>
              <a:rPr lang="en-IN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was an enhancement to an already highly successful one</a:t>
            </a:r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37639" y="6368527"/>
            <a:ext cx="26949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err="1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</a:t>
            </a:r>
            <a:r>
              <a:rPr lang="en-GB" sz="1200" dirty="0" err="1" smtClean="0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rogramming_heist_professor</a:t>
            </a:r>
            <a:endParaRPr lang="en-IN" sz="1200" dirty="0">
              <a:solidFill>
                <a:srgbClr val="FF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4586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6013" y="1248812"/>
            <a:ext cx="1010322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From </a:t>
            </a:r>
            <a:r>
              <a:rPr lang="en-IN" dirty="0" smtClean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1972 </a:t>
            </a:r>
            <a:r>
              <a:rPr lang="en-IN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- 1980s</a:t>
            </a:r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IN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</a:t>
            </a:r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was used as primary programming language.</a:t>
            </a:r>
          </a:p>
          <a:p>
            <a:endParaRPr lang="en-IN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From </a:t>
            </a:r>
            <a:r>
              <a:rPr lang="en-IN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1980 - 1990s</a:t>
            </a:r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object-oriented programming using </a:t>
            </a:r>
            <a:r>
              <a:rPr lang="en-IN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C++ </a:t>
            </a:r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took </a:t>
            </a:r>
            <a:r>
              <a:rPr lang="en-IN" dirty="0" smtClean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hold.</a:t>
            </a:r>
            <a:endParaRPr lang="en-IN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5634" y="334390"/>
            <a:ext cx="40511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dirty="0" smtClean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Why and When Java?</a:t>
            </a:r>
            <a:endParaRPr lang="en-IN" sz="2800" dirty="0">
              <a:solidFill>
                <a:srgbClr val="FFC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37079" y="2571981"/>
            <a:ext cx="29418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The Creation of Java</a:t>
            </a:r>
          </a:p>
        </p:txBody>
      </p:sp>
      <p:sp>
        <p:nvSpPr>
          <p:cNvPr id="5" name="Rectangle 4"/>
          <p:cNvSpPr/>
          <p:nvPr/>
        </p:nvSpPr>
        <p:spPr>
          <a:xfrm>
            <a:off x="670559" y="3126021"/>
            <a:ext cx="1082936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tx1">
                    <a:lumMod val="9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Java was designed </a:t>
            </a:r>
            <a:r>
              <a:rPr lang="en-IN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small, embedded systems in electronic appliances </a:t>
            </a:r>
            <a:r>
              <a:rPr lang="en-IN" dirty="0">
                <a:solidFill>
                  <a:schemeClr val="tx1">
                    <a:lumMod val="9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like </a:t>
            </a:r>
            <a:r>
              <a:rPr lang="en-IN" dirty="0">
                <a:solidFill>
                  <a:srgbClr val="92D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set-top boxes, microwave ovens, remote controls</a:t>
            </a:r>
            <a:r>
              <a:rPr lang="en-IN" dirty="0">
                <a:solidFill>
                  <a:schemeClr val="tx1">
                    <a:lumMod val="9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and many other </a:t>
            </a:r>
            <a:r>
              <a:rPr lang="en-IN" dirty="0" err="1">
                <a:solidFill>
                  <a:schemeClr val="tx1">
                    <a:lumMod val="9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elecronic</a:t>
            </a:r>
            <a:r>
              <a:rPr lang="en-IN" dirty="0">
                <a:solidFill>
                  <a:schemeClr val="tx1">
                    <a:lumMod val="9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appliances. It was known as </a:t>
            </a:r>
            <a:r>
              <a:rPr lang="en-IN" dirty="0" err="1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Greentalk</a:t>
            </a:r>
            <a:r>
              <a:rPr lang="en-IN" dirty="0">
                <a:solidFill>
                  <a:schemeClr val="tx1">
                    <a:lumMod val="9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at that time </a:t>
            </a:r>
            <a:r>
              <a:rPr lang="en-IN" dirty="0" err="1">
                <a:solidFill>
                  <a:schemeClr val="tx1">
                    <a:lumMod val="9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i.e</a:t>
            </a:r>
            <a:r>
              <a:rPr lang="en-IN" dirty="0">
                <a:solidFill>
                  <a:schemeClr val="tx1">
                    <a:lumMod val="9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in early '90s. After that, it was called </a:t>
            </a:r>
            <a:r>
              <a:rPr lang="en-IN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Oak</a:t>
            </a:r>
            <a:r>
              <a:rPr lang="en-IN" dirty="0">
                <a:solidFill>
                  <a:schemeClr val="tx1">
                    <a:lumMod val="9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 Lastly </a:t>
            </a:r>
            <a:r>
              <a:rPr lang="en-IN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it was named Java in 1995</a:t>
            </a:r>
            <a:r>
              <a:rPr lang="en-IN" dirty="0">
                <a:solidFill>
                  <a:schemeClr val="tx1">
                    <a:lumMod val="9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908" y="4450541"/>
            <a:ext cx="105765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Java was developed by </a:t>
            </a:r>
            <a:r>
              <a:rPr lang="en-IN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James Gosling</a:t>
            </a:r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who is known as the father of Java. </a:t>
            </a:r>
          </a:p>
        </p:txBody>
      </p:sp>
      <p:pic>
        <p:nvPicPr>
          <p:cNvPr id="2050" name="Picture 2" descr="James Gosling | Dries Buytaer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6437" y="4836199"/>
            <a:ext cx="2461063" cy="1639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9337639" y="6368527"/>
            <a:ext cx="26949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err="1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</a:t>
            </a:r>
            <a:r>
              <a:rPr lang="en-GB" sz="1200" dirty="0" err="1" smtClean="0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rogramming_heist_professor</a:t>
            </a:r>
            <a:endParaRPr lang="en-IN" sz="1200" dirty="0">
              <a:solidFill>
                <a:srgbClr val="FF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0735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5107" y="280602"/>
            <a:ext cx="44807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The Creation of </a:t>
            </a:r>
            <a:r>
              <a:rPr lang="en-IN" sz="2800" dirty="0" smtClean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Java</a:t>
            </a:r>
            <a:endParaRPr lang="en-IN" sz="2800" dirty="0">
              <a:solidFill>
                <a:srgbClr val="FFC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31693" y="1122424"/>
            <a:ext cx="1153399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Java</a:t>
            </a:r>
            <a:r>
              <a:rPr lang="en-IN" dirty="0">
                <a:solidFill>
                  <a:schemeClr val="tx1">
                    <a:lumMod val="8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was created at </a:t>
            </a:r>
            <a:r>
              <a:rPr lang="en-IN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Sun Microsystems</a:t>
            </a:r>
            <a:r>
              <a:rPr lang="en-IN" dirty="0">
                <a:solidFill>
                  <a:schemeClr val="tx1">
                    <a:lumMod val="8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Inc., where </a:t>
            </a:r>
            <a:r>
              <a:rPr lang="en-IN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James Gosling</a:t>
            </a:r>
            <a:r>
              <a:rPr lang="en-IN" dirty="0">
                <a:solidFill>
                  <a:schemeClr val="tx1">
                    <a:lumMod val="8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led a team of researchers in an effort to create a new language that would allow </a:t>
            </a:r>
            <a:r>
              <a:rPr lang="en-IN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consumer electronic devices to communicate with each other</a:t>
            </a:r>
            <a:r>
              <a:rPr lang="en-IN" dirty="0">
                <a:solidFill>
                  <a:schemeClr val="tx1">
                    <a:lumMod val="8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Inc. in 1991. It took 18 months</a:t>
            </a:r>
          </a:p>
          <a:p>
            <a:r>
              <a:rPr lang="en-IN" dirty="0">
                <a:solidFill>
                  <a:schemeClr val="tx1">
                    <a:lumMod val="8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to develop the first working version. This language was initially called “</a:t>
            </a:r>
            <a:r>
              <a:rPr lang="en-IN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Oak</a:t>
            </a:r>
            <a:r>
              <a:rPr lang="en-IN" dirty="0">
                <a:solidFill>
                  <a:schemeClr val="tx1">
                    <a:lumMod val="8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,”</a:t>
            </a:r>
          </a:p>
          <a:p>
            <a:r>
              <a:rPr lang="en-IN" dirty="0">
                <a:solidFill>
                  <a:schemeClr val="tx1">
                    <a:lumMod val="8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but was renamed “Java” in 1995.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6315" y="3425908"/>
            <a:ext cx="1115209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Original goal </a:t>
            </a:r>
            <a:r>
              <a:rPr lang="en-IN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Java was not the Internet</a:t>
            </a:r>
            <a:r>
              <a:rPr lang="en-IN" dirty="0" smtClean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!</a:t>
            </a:r>
          </a:p>
          <a:p>
            <a:endParaRPr lang="en-IN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Instead, the primary motivation was the need for a platform-independent (</a:t>
            </a:r>
            <a:r>
              <a:rPr lang="en-IN" dirty="0" smtClean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that is</a:t>
            </a:r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architecture-neutral) language that could be used to create software to </a:t>
            </a:r>
            <a:r>
              <a:rPr lang="en-IN" dirty="0" smtClean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be embedded </a:t>
            </a:r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 various consumer electronic devices, such as microwave ovens</a:t>
            </a:r>
          </a:p>
          <a:p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and remote controls.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37639" y="6368527"/>
            <a:ext cx="26949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err="1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</a:t>
            </a:r>
            <a:r>
              <a:rPr lang="en-GB" sz="1200" dirty="0" err="1" smtClean="0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rogramming_heist_professor</a:t>
            </a:r>
            <a:endParaRPr lang="en-IN" sz="1200" dirty="0">
              <a:solidFill>
                <a:srgbClr val="FF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5783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198191" y="97722"/>
            <a:ext cx="31918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dirty="0" smtClean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Microwave </a:t>
            </a:r>
            <a:r>
              <a:rPr lang="en-IN" sz="2800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oven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072" y="732865"/>
            <a:ext cx="5286935" cy="52869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054" y="721825"/>
            <a:ext cx="5004511" cy="17147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280025" y="146132"/>
            <a:ext cx="32447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dirty="0" smtClean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Remote </a:t>
            </a:r>
            <a:r>
              <a:rPr lang="en-IN" sz="2800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control</a:t>
            </a:r>
            <a:r>
              <a:rPr lang="en-IN" dirty="0"/>
              <a:t>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5453" y="3182341"/>
            <a:ext cx="2628310" cy="350353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191546" y="2615011"/>
            <a:ext cx="34067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dirty="0" smtClean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Washing </a:t>
            </a:r>
            <a:r>
              <a:rPr lang="en-IN" sz="2800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machine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7639" y="6368527"/>
            <a:ext cx="26949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err="1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</a:t>
            </a:r>
            <a:r>
              <a:rPr lang="en-GB" sz="1200" dirty="0" err="1" smtClean="0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rogramming_heist_professor</a:t>
            </a:r>
            <a:endParaRPr lang="en-IN" sz="1200" dirty="0">
              <a:solidFill>
                <a:srgbClr val="FF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2185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51077" y="306152"/>
            <a:ext cx="43822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What is Java?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57" y="2577367"/>
            <a:ext cx="49103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dirty="0" smtClean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Stage is set for </a:t>
            </a:r>
            <a:r>
              <a:rPr lang="en-IN" sz="2800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Java?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87" y="3391242"/>
            <a:ext cx="4664448" cy="280486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2688" y="3347869"/>
            <a:ext cx="5643027" cy="276112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3896116"/>
            <a:ext cx="1467971" cy="150691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69143" y="6278438"/>
            <a:ext cx="1309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chemeClr val="tx1">
                    <a:lumMod val="8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Before</a:t>
            </a:r>
            <a:endParaRPr lang="en-IN" dirty="0">
              <a:solidFill>
                <a:schemeClr val="tx1">
                  <a:lumMod val="85000"/>
                </a:schemeClr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73353" y="6243470"/>
            <a:ext cx="968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chemeClr val="tx1">
                    <a:lumMod val="8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Now</a:t>
            </a:r>
            <a:endParaRPr lang="en-IN" dirty="0">
              <a:solidFill>
                <a:schemeClr val="tx1">
                  <a:lumMod val="85000"/>
                </a:schemeClr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925650" y="5440679"/>
            <a:ext cx="16136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chemeClr val="tx1">
                    <a:lumMod val="8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Tech. Required..</a:t>
            </a:r>
            <a:endParaRPr lang="en-IN" dirty="0">
              <a:solidFill>
                <a:schemeClr val="tx1">
                  <a:lumMod val="85000"/>
                </a:schemeClr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63966" y="774126"/>
            <a:ext cx="109907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Within a few years, the </a:t>
            </a:r>
            <a:r>
              <a:rPr lang="en-IN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World Wide Web and </a:t>
            </a:r>
            <a:r>
              <a:rPr lang="en-IN" dirty="0" smtClean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the Internet </a:t>
            </a:r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would reach critical mass. This event would </a:t>
            </a:r>
            <a:r>
              <a:rPr lang="en-IN" dirty="0" smtClean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push another revolution </a:t>
            </a:r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 programming.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0101" y="1457238"/>
            <a:ext cx="1058194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with the emergence of the </a:t>
            </a:r>
            <a:r>
              <a:rPr lang="en-IN" dirty="0" smtClean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World Wide </a:t>
            </a:r>
            <a:r>
              <a:rPr lang="en-IN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Web</a:t>
            </a:r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Java was propelled to the forefront of computer language </a:t>
            </a:r>
            <a:r>
              <a:rPr lang="en-IN" dirty="0" smtClean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design, because </a:t>
            </a:r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the Web, too, demanded portable programs.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37639" y="6368527"/>
            <a:ext cx="26949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err="1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</a:t>
            </a:r>
            <a:r>
              <a:rPr lang="en-GB" sz="1200" dirty="0" err="1" smtClean="0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rogramming_heist_professor</a:t>
            </a:r>
            <a:endParaRPr lang="en-IN" sz="1200" dirty="0">
              <a:solidFill>
                <a:srgbClr val="FF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7140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2" grpId="0"/>
      <p:bldP spid="13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818" y="209353"/>
            <a:ext cx="11811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dirty="0" smtClean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Java</a:t>
            </a:r>
            <a:r>
              <a:rPr lang="en-GB" dirty="0" smtClean="0">
                <a:solidFill>
                  <a:schemeClr val="tx1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GB" dirty="0">
                <a:solidFill>
                  <a:schemeClr val="tx1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is a </a:t>
            </a:r>
            <a:r>
              <a:rPr lang="en-GB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platform-independent</a:t>
            </a:r>
            <a:r>
              <a:rPr lang="en-GB" dirty="0">
                <a:solidFill>
                  <a:schemeClr val="tx1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language, meaning we run the same code on multiple platforms. Java achieves this using </a:t>
            </a:r>
            <a:r>
              <a:rPr lang="en-GB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JVM</a:t>
            </a:r>
            <a:r>
              <a:rPr lang="en-GB" dirty="0">
                <a:solidFill>
                  <a:schemeClr val="tx1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and </a:t>
            </a:r>
            <a:r>
              <a:rPr lang="en-GB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Byte Code</a:t>
            </a:r>
            <a:r>
              <a:rPr lang="en-GB" dirty="0">
                <a:solidFill>
                  <a:schemeClr val="tx1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 Java compiler converts the programming code into byte code. </a:t>
            </a:r>
            <a:r>
              <a:rPr lang="en-GB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Byte code is platform-independent </a:t>
            </a:r>
            <a:r>
              <a:rPr lang="en-GB" dirty="0">
                <a:solidFill>
                  <a:schemeClr val="tx1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and can be run on any </a:t>
            </a:r>
            <a:r>
              <a:rPr lang="en-GB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processor or system</a:t>
            </a:r>
            <a:r>
              <a:rPr lang="en-GB" dirty="0" smtClean="0">
                <a:solidFill>
                  <a:schemeClr val="tx1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endParaRPr lang="en-IN" dirty="0">
              <a:solidFill>
                <a:schemeClr val="tx1">
                  <a:lumMod val="75000"/>
                </a:schemeClr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2" y="1976719"/>
            <a:ext cx="2581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 smtClean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Any Processor</a:t>
            </a:r>
            <a:endParaRPr lang="en-IN" sz="2400" dirty="0">
              <a:solidFill>
                <a:srgbClr val="FFC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03950" y="2414672"/>
            <a:ext cx="872489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tx1">
                    <a:lumMod val="8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The different types of processors are </a:t>
            </a:r>
          </a:p>
          <a:p>
            <a:r>
              <a:rPr lang="en-IN" dirty="0" smtClean="0">
                <a:solidFill>
                  <a:schemeClr val="tx1">
                    <a:lumMod val="8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- microprocessor (</a:t>
            </a:r>
            <a:r>
              <a:rPr lang="en-IN" dirty="0" smtClean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CISC , RISC, EPIC)</a:t>
            </a:r>
          </a:p>
          <a:p>
            <a:r>
              <a:rPr lang="en-GB" dirty="0">
                <a:solidFill>
                  <a:schemeClr val="tx1">
                    <a:lumMod val="8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	</a:t>
            </a:r>
            <a:r>
              <a:rPr lang="en-GB" dirty="0" smtClean="0">
                <a:solidFill>
                  <a:schemeClr val="tx1">
                    <a:lumMod val="8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 (</a:t>
            </a:r>
            <a:r>
              <a:rPr lang="en-GB" dirty="0">
                <a:solidFill>
                  <a:schemeClr val="tx1">
                    <a:lumMod val="8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RISC)-based computers use the big-endian </a:t>
            </a:r>
            <a:r>
              <a:rPr lang="en-GB" dirty="0" smtClean="0">
                <a:solidFill>
                  <a:schemeClr val="tx1">
                    <a:lumMod val="8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approach</a:t>
            </a:r>
          </a:p>
          <a:p>
            <a:r>
              <a:rPr lang="en-GB" dirty="0">
                <a:solidFill>
                  <a:schemeClr val="tx1">
                    <a:lumMod val="8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</a:t>
            </a:r>
            <a:r>
              <a:rPr lang="en-GB" dirty="0" smtClean="0">
                <a:solidFill>
                  <a:schemeClr val="tx1">
                    <a:lumMod val="8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- (CISC</a:t>
            </a:r>
            <a:r>
              <a:rPr lang="en-GB" dirty="0">
                <a:solidFill>
                  <a:schemeClr val="tx1">
                    <a:lumMod val="8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)-based computers use the </a:t>
            </a:r>
            <a:r>
              <a:rPr lang="en-GB" dirty="0" smtClean="0">
                <a:solidFill>
                  <a:schemeClr val="tx1">
                    <a:lumMod val="8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little-endian </a:t>
            </a:r>
            <a:r>
              <a:rPr lang="en-GB" dirty="0">
                <a:solidFill>
                  <a:schemeClr val="tx1">
                    <a:lumMod val="8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approach</a:t>
            </a:r>
            <a:endParaRPr lang="en-IN" dirty="0">
              <a:solidFill>
                <a:schemeClr val="tx1">
                  <a:lumMod val="85000"/>
                </a:schemeClr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en-IN" dirty="0" smtClean="0">
                <a:solidFill>
                  <a:schemeClr val="tx1">
                    <a:lumMod val="8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- microcontroller</a:t>
            </a:r>
            <a:endParaRPr lang="en-IN" dirty="0">
              <a:solidFill>
                <a:schemeClr val="tx1">
                  <a:lumMod val="85000"/>
                </a:schemeClr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en-IN" dirty="0" smtClean="0">
                <a:solidFill>
                  <a:schemeClr val="tx1">
                    <a:lumMod val="8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- embedded </a:t>
            </a:r>
            <a:r>
              <a:rPr lang="en-IN" dirty="0">
                <a:solidFill>
                  <a:schemeClr val="tx1">
                    <a:lumMod val="8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processor</a:t>
            </a:r>
          </a:p>
          <a:p>
            <a:r>
              <a:rPr lang="en-IN" dirty="0" smtClean="0">
                <a:solidFill>
                  <a:schemeClr val="tx1">
                    <a:lumMod val="8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- digital </a:t>
            </a:r>
            <a:r>
              <a:rPr lang="en-IN" dirty="0">
                <a:solidFill>
                  <a:schemeClr val="tx1">
                    <a:lumMod val="8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signal processor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303" y="4534903"/>
            <a:ext cx="5994025" cy="222500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7647" y="4522133"/>
            <a:ext cx="4811806" cy="218794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37639" y="6368527"/>
            <a:ext cx="26949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err="1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</a:t>
            </a:r>
            <a:r>
              <a:rPr lang="en-GB" sz="1200" dirty="0" err="1" smtClean="0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rogramming_heist_professor</a:t>
            </a:r>
            <a:endParaRPr lang="en-IN" sz="1200" dirty="0">
              <a:solidFill>
                <a:srgbClr val="FF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2540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48773" y="221884"/>
            <a:ext cx="4713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Any </a:t>
            </a:r>
            <a:r>
              <a:rPr lang="en-GB" sz="2800" dirty="0" smtClean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Operating</a:t>
            </a:r>
            <a:r>
              <a:rPr lang="en-GB" sz="2400" dirty="0" smtClean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System</a:t>
            </a:r>
            <a:endParaRPr lang="en-IN" sz="2400" dirty="0">
              <a:solidFill>
                <a:srgbClr val="FFC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8043" y="787595"/>
            <a:ext cx="961912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 Apple macOS</a:t>
            </a:r>
            <a:endParaRPr lang="en-IN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en-IN" dirty="0" smtClean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 Microsoft </a:t>
            </a:r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Windows</a:t>
            </a:r>
          </a:p>
          <a:p>
            <a:r>
              <a:rPr lang="en-IN" dirty="0" smtClean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 Google's </a:t>
            </a:r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Android OS</a:t>
            </a:r>
          </a:p>
          <a:p>
            <a:r>
              <a:rPr lang="en-IN" dirty="0" smtClean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 Linux </a:t>
            </a:r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Operating System</a:t>
            </a:r>
          </a:p>
          <a:p>
            <a:pPr marL="285750" indent="-285750">
              <a:buFontTx/>
              <a:buChar char="-"/>
            </a:pPr>
            <a:r>
              <a:rPr lang="en-IN" dirty="0" smtClean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Apple iOS</a:t>
            </a:r>
          </a:p>
          <a:p>
            <a:pPr marL="285750" indent="-285750">
              <a:buFontTx/>
              <a:buChar char="-"/>
            </a:pPr>
            <a:r>
              <a:rPr lang="en-GB" dirty="0" smtClean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All Home appliances uses different-different OS</a:t>
            </a:r>
            <a:endParaRPr lang="en-IN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9453" y="2662518"/>
            <a:ext cx="94211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 smtClean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How many types of Operating System exists? </a:t>
            </a:r>
            <a:endParaRPr lang="en-IN" sz="2800" dirty="0">
              <a:solidFill>
                <a:srgbClr val="FFC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2730" y="3334871"/>
            <a:ext cx="116115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 smtClean="0">
                <a:solidFill>
                  <a:schemeClr val="tx1">
                    <a:lumMod val="9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Uncountable……… </a:t>
            </a:r>
            <a:r>
              <a:rPr lang="en-GB" sz="1200" dirty="0" smtClean="0">
                <a:solidFill>
                  <a:schemeClr val="tx1">
                    <a:lumMod val="9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(Its just like asking how many brands of shampoo’s exists around the globe??)</a:t>
            </a:r>
            <a:endParaRPr lang="en-IN" sz="1200" dirty="0">
              <a:solidFill>
                <a:schemeClr val="tx1">
                  <a:lumMod val="95000"/>
                </a:schemeClr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331" y="4167469"/>
            <a:ext cx="3913093" cy="218888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337639" y="6368527"/>
            <a:ext cx="26949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err="1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</a:t>
            </a:r>
            <a:r>
              <a:rPr lang="en-GB" sz="1200" dirty="0" err="1" smtClean="0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rogramming_heist_professor</a:t>
            </a:r>
            <a:endParaRPr lang="en-IN" sz="1200" dirty="0">
              <a:solidFill>
                <a:srgbClr val="FF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4569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0853" y="4349715"/>
            <a:ext cx="1197460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dirty="0" smtClean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Audio 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components fax machines, scanners, printers, cell phones, personal digital assistants, </a:t>
            </a:r>
            <a:r>
              <a:rPr lang="en-US" dirty="0" smtClean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mobile phones 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and also wrist watches all these devices are enhanced with microprocessors and are becoming the part of the network. </a:t>
            </a:r>
            <a:r>
              <a:rPr lang="en-US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Now our network is not homogenous it’s heterogeneous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.In the sense that different devices (different in hardware, architecture and operating system) are becoming the part of the network.</a:t>
            </a:r>
            <a:endParaRPr lang="en-IN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0853" y="249695"/>
            <a:ext cx="1173928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 single java program can run unchanged on a wide range of computers and devices. Compared with </a:t>
            </a:r>
            <a:r>
              <a:rPr lang="en-US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programs compiled for a specific hardware and operating system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 Platform independent programs written in Java can be easier and cheaper to develop, administer and maintain. </a:t>
            </a:r>
            <a:endParaRPr lang="en-IN" dirty="0">
              <a:solidFill>
                <a:schemeClr val="tx1">
                  <a:lumMod val="95000"/>
                </a:schemeClr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2050" name="Picture 2" descr="Figure showing MyProgram.java, compiler, MyProgram.class, Java VM, and My Program running on a computer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363" y="1993341"/>
            <a:ext cx="9927479" cy="1712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9337639" y="6368527"/>
            <a:ext cx="26949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err="1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</a:t>
            </a:r>
            <a:r>
              <a:rPr lang="en-GB" sz="1200" dirty="0" err="1" smtClean="0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rogramming_heist_professor</a:t>
            </a:r>
            <a:endParaRPr lang="en-IN" sz="1200" dirty="0">
              <a:solidFill>
                <a:srgbClr val="FF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9554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50576" y="272534"/>
            <a:ext cx="35702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The Architecture</a:t>
            </a:r>
            <a:endParaRPr lang="en-IN" sz="2800" dirty="0">
              <a:solidFill>
                <a:srgbClr val="FFC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5312" y="974503"/>
            <a:ext cx="1138069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Java architecture is composed of four distinct but interrelated technologies each of which is defined by a separate specification from Sun Microsystems</a:t>
            </a:r>
            <a:r>
              <a:rPr lang="en-US" dirty="0" smtClean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</a:p>
          <a:p>
            <a:pPr lvl="0" algn="just">
              <a:spcAft>
                <a:spcPts val="0"/>
              </a:spcAft>
              <a:tabLst>
                <a:tab pos="457200" algn="l"/>
              </a:tabLst>
            </a:pPr>
            <a:endParaRPr lang="en-IN" dirty="0" smtClean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lvl="0" algn="just">
              <a:spcAft>
                <a:spcPts val="0"/>
              </a:spcAft>
              <a:tabLst>
                <a:tab pos="457200" algn="l"/>
              </a:tabLst>
            </a:pPr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N" dirty="0" smtClean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 </a:t>
            </a:r>
            <a:r>
              <a:rPr lang="en-US" dirty="0" smtClean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The 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Java programming </a:t>
            </a:r>
            <a:r>
              <a:rPr lang="en-US" dirty="0" smtClean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language</a:t>
            </a:r>
            <a:endParaRPr lang="en-IN" dirty="0" smtClean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lvl="0" algn="just">
              <a:spcAft>
                <a:spcPts val="0"/>
              </a:spcAft>
              <a:tabLst>
                <a:tab pos="457200" algn="l"/>
              </a:tabLst>
            </a:pPr>
            <a:r>
              <a:rPr lang="en-US" dirty="0" smtClean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- The Java class file format</a:t>
            </a:r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endParaRPr lang="en-IN" dirty="0" smtClean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lvl="0" algn="just">
              <a:spcAft>
                <a:spcPts val="0"/>
              </a:spcAft>
              <a:tabLst>
                <a:tab pos="457200" algn="l"/>
              </a:tabLst>
            </a:pPr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N" dirty="0" smtClean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 </a:t>
            </a:r>
            <a:r>
              <a:rPr lang="en-US" dirty="0" smtClean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The 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Java Application Programming </a:t>
            </a:r>
            <a:r>
              <a:rPr lang="en-US" dirty="0" smtClean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Interface</a:t>
            </a:r>
            <a:endParaRPr lang="en-IN" dirty="0" smtClean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lvl="0" algn="just">
              <a:spcAft>
                <a:spcPts val="0"/>
              </a:spcAft>
              <a:tabLst>
                <a:tab pos="457200" algn="l"/>
              </a:tabLst>
            </a:pPr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IN" dirty="0" smtClean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 </a:t>
            </a:r>
            <a:r>
              <a:rPr lang="en-US" dirty="0" smtClean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The 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Java Virtual Machine</a:t>
            </a:r>
            <a:endParaRPr lang="en-IN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3074" name="Picture 2" descr="Figure showing source code, compiler, and Java VM's for Win32, Solaris OS/Linux, and Mac 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056" y="3198439"/>
            <a:ext cx="3775450" cy="34274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8408" y="3554493"/>
            <a:ext cx="6517567" cy="24025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337639" y="6368527"/>
            <a:ext cx="26949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err="1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</a:t>
            </a:r>
            <a:r>
              <a:rPr lang="en-GB" sz="1200" dirty="0" err="1" smtClean="0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rogramming_heist_professor</a:t>
            </a:r>
            <a:endParaRPr lang="en-IN" sz="1200" dirty="0">
              <a:solidFill>
                <a:srgbClr val="FF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8177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8" y="3333287"/>
            <a:ext cx="5620870" cy="32288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1378" y="97721"/>
            <a:ext cx="61782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Java </a:t>
            </a:r>
            <a:r>
              <a:rPr lang="en-IN" sz="2400" dirty="0" smtClean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Virtual Machine(JVM</a:t>
            </a:r>
            <a:r>
              <a:rPr lang="en-IN" sz="2400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6712" y="553588"/>
            <a:ext cx="118378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tx1">
                    <a:lumMod val="8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Every Operating System has a different JVM but the output they produce after the execution of bytecode is the same across all the operating systems.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592" y="1254169"/>
            <a:ext cx="57150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dirty="0" smtClean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Java </a:t>
            </a:r>
            <a:r>
              <a:rPr lang="en-IN" sz="2400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Runtime Environment (JRE)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76" y="1662971"/>
            <a:ext cx="1162274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JDK includes JRE. JRE installation on our computers allows the java program to run. For running the java program, a computer needs JRE.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707" y="2460812"/>
            <a:ext cx="4977645" cy="4616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defRPr>
            </a:lvl1pPr>
          </a:lstStyle>
          <a:p>
            <a:r>
              <a:rPr lang="en-GB" dirty="0"/>
              <a:t>Java Development Kit (JDK)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210670" y="2924300"/>
            <a:ext cx="119253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The Java Development Kit (JDK) is a cross-</a:t>
            </a:r>
            <a:r>
              <a:rPr lang="en-GB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platformed</a:t>
            </a:r>
            <a:r>
              <a:rPr lang="en-GB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software development environment.</a:t>
            </a:r>
            <a:endParaRPr lang="en-IN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337639" y="6368527"/>
            <a:ext cx="26949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err="1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</a:t>
            </a:r>
            <a:r>
              <a:rPr lang="en-GB" sz="1200" dirty="0" err="1" smtClean="0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rogramming_heist_professor</a:t>
            </a:r>
            <a:endParaRPr lang="en-IN" sz="1200" dirty="0">
              <a:solidFill>
                <a:srgbClr val="FF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2683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7677" y="1467688"/>
            <a:ext cx="6990566" cy="458835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398" y="1467523"/>
            <a:ext cx="1524000" cy="152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337639" y="6368527"/>
            <a:ext cx="26949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err="1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</a:t>
            </a:r>
            <a:r>
              <a:rPr lang="en-GB" sz="1200" dirty="0" err="1" smtClean="0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rogramming_heist_professor</a:t>
            </a:r>
            <a:endParaRPr lang="en-IN" sz="1200" dirty="0">
              <a:solidFill>
                <a:srgbClr val="FF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6845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9855" y="554019"/>
            <a:ext cx="10359614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800" dirty="0" smtClean="0">
                <a:solidFill>
                  <a:srgbClr val="FFC000"/>
                </a:solidFill>
              </a:rPr>
              <a:t>Three ways to learn a Technology.</a:t>
            </a:r>
          </a:p>
          <a:p>
            <a:endParaRPr lang="en-GB" sz="8800" dirty="0" smtClean="0">
              <a:solidFill>
                <a:srgbClr val="FFC000"/>
              </a:solidFill>
            </a:endParaRPr>
          </a:p>
          <a:p>
            <a:r>
              <a:rPr lang="en-GB" sz="8800" dirty="0" smtClean="0">
                <a:solidFill>
                  <a:srgbClr val="FFC000"/>
                </a:solidFill>
              </a:rPr>
              <a:t>Choice is yours</a:t>
            </a:r>
            <a:endParaRPr lang="en-IN" sz="8800" dirty="0">
              <a:solidFill>
                <a:srgbClr val="FFC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337639" y="6368527"/>
            <a:ext cx="26949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err="1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</a:t>
            </a:r>
            <a:r>
              <a:rPr lang="en-GB" sz="1200" dirty="0" err="1" smtClean="0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rogramming_heist_professor</a:t>
            </a:r>
            <a:endParaRPr lang="en-IN" sz="1200" dirty="0">
              <a:solidFill>
                <a:srgbClr val="FF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962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4280" y="2475690"/>
            <a:ext cx="4851699" cy="339618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4928" y="242048"/>
            <a:ext cx="1149992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 smtClean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1. Do this and that will be the output....</a:t>
            </a:r>
            <a:endParaRPr lang="en-GB" sz="3200" dirty="0">
              <a:solidFill>
                <a:srgbClr val="FFC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endParaRPr lang="en-GB" dirty="0" smtClean="0">
              <a:solidFill>
                <a:srgbClr val="FFC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en-GB" dirty="0" smtClean="0">
                <a:solidFill>
                  <a:schemeClr val="tx1">
                    <a:lumMod val="8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((( Don’t rest on this, move forward and learn to swim)))</a:t>
            </a:r>
          </a:p>
          <a:p>
            <a:endParaRPr lang="en-GB" dirty="0">
              <a:solidFill>
                <a:srgbClr val="FF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en-GB" dirty="0" smtClean="0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TILL  DATE, INDIA DO NOT HAVE ANY PATENTED SOFTWARE!!!!!!!!!!</a:t>
            </a:r>
          </a:p>
          <a:p>
            <a:endParaRPr lang="en-GB" dirty="0">
              <a:solidFill>
                <a:srgbClr val="FFC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endParaRPr lang="en-IN" dirty="0">
              <a:solidFill>
                <a:srgbClr val="FFC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515" y="3171877"/>
            <a:ext cx="3482429" cy="13301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37639" y="6368527"/>
            <a:ext cx="26949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err="1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</a:t>
            </a:r>
            <a:r>
              <a:rPr lang="en-GB" sz="1200" dirty="0" err="1" smtClean="0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rogramming_heist_professor</a:t>
            </a:r>
            <a:endParaRPr lang="en-IN" sz="1200" dirty="0">
              <a:solidFill>
                <a:srgbClr val="FF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2242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9865" y="1828800"/>
            <a:ext cx="6852621" cy="385459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0423" y="291360"/>
            <a:ext cx="939668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200" dirty="0" smtClean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2.Jump </a:t>
            </a:r>
            <a:r>
              <a:rPr lang="en-GB" sz="3200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 </a:t>
            </a:r>
            <a:r>
              <a:rPr lang="en-GB" sz="320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and </a:t>
            </a:r>
            <a:r>
              <a:rPr lang="en-GB" sz="3200" smtClean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loose </a:t>
            </a:r>
            <a:r>
              <a:rPr lang="en-GB" sz="3200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yourself.</a:t>
            </a:r>
            <a:endParaRPr lang="en-IN" sz="3200" dirty="0">
              <a:solidFill>
                <a:srgbClr val="FFC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337639" y="6368527"/>
            <a:ext cx="26949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err="1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</a:t>
            </a:r>
            <a:r>
              <a:rPr lang="en-GB" sz="1200" dirty="0" err="1" smtClean="0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rogramming_heist_professor</a:t>
            </a:r>
            <a:endParaRPr lang="en-IN" sz="1200" dirty="0">
              <a:solidFill>
                <a:srgbClr val="FF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7424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91" y="1691640"/>
            <a:ext cx="6009940" cy="338059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45632" y="233543"/>
            <a:ext cx="1160391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200" dirty="0" smtClean="0">
                <a:solidFill>
                  <a:srgbClr val="FFC000"/>
                </a:solidFill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3.When </a:t>
            </a:r>
            <a:r>
              <a:rPr lang="en-GB" sz="3200" dirty="0">
                <a:solidFill>
                  <a:srgbClr val="FFC000"/>
                </a:solidFill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you want something, all the universe conspires in helping you to achieve it.</a:t>
            </a:r>
            <a:endParaRPr lang="en-IN" sz="3200" dirty="0">
              <a:solidFill>
                <a:srgbClr val="FFC000"/>
              </a:solidFill>
              <a:latin typeface="JetBrains Mono Light" panose="02000009000000000000" pitchFamily="49" charset="0"/>
              <a:ea typeface="JetBrains Mono Light" panose="02000009000000000000" pitchFamily="49" charset="0"/>
              <a:cs typeface="JetBrains Mono Light" panose="02000009000000000000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15154" y="5278880"/>
            <a:ext cx="1167204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FFC000"/>
                </a:solidFill>
                <a:latin typeface="JetBrains Mono Light" panose="02000009000000000000" pitchFamily="49" charset="0"/>
                <a:ea typeface="JetBrains Mono Light" panose="02000009000000000000" pitchFamily="49" charset="0"/>
                <a:cs typeface="JetBrains Mono Light" panose="02000009000000000000" pitchFamily="49" charset="0"/>
              </a:rPr>
              <a:t>People are capable, at any time in their lives, of doing what they dream of.</a:t>
            </a:r>
            <a:endParaRPr lang="en-IN" sz="2400" dirty="0">
              <a:solidFill>
                <a:srgbClr val="FFC000"/>
              </a:solidFill>
              <a:latin typeface="JetBrains Mono Light" panose="02000009000000000000" pitchFamily="49" charset="0"/>
              <a:ea typeface="JetBrains Mono Light" panose="02000009000000000000" pitchFamily="49" charset="0"/>
              <a:cs typeface="JetBrains Mono Light" panose="02000009000000000000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337639" y="6368527"/>
            <a:ext cx="26949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err="1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</a:t>
            </a:r>
            <a:r>
              <a:rPr lang="en-GB" sz="1200" dirty="0" err="1" smtClean="0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rogramming_heist_professor</a:t>
            </a:r>
            <a:endParaRPr lang="en-IN" sz="1200" dirty="0">
              <a:solidFill>
                <a:srgbClr val="FF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4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11568</TotalTime>
  <Words>1326</Words>
  <Application>Microsoft Office PowerPoint</Application>
  <PresentationFormat>Widescreen</PresentationFormat>
  <Paragraphs>150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JetBrains Mono</vt:lpstr>
      <vt:lpstr>JetBrains Mono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aashi kansal</dc:creator>
  <cp:lastModifiedBy>Krishan Kansal</cp:lastModifiedBy>
  <cp:revision>98</cp:revision>
  <dcterms:created xsi:type="dcterms:W3CDTF">2023-03-24T10:43:18Z</dcterms:created>
  <dcterms:modified xsi:type="dcterms:W3CDTF">2023-05-04T14:38:59Z</dcterms:modified>
</cp:coreProperties>
</file>